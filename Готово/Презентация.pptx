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Моя тема — «Компьютер 21 века, перспективы». Я хочу рассказать, каким будет компьютер завтра и что это изменит для каждого из нас.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я выбрал эту тему? Компьютеры сегодня есть везде: в телефоне, в машине, на транспорте, в магазине. Технологии развиваются так быстро, что важно понимать, куда они движутся.
Цель моего проекта — выяснить, каким будет компьютер в 21 веке и какие у него перспективы.
Задачи: изучить историю компьютеров, описать современный компьютер, рассмотреть технологии будущего и оценить плюсы и риски.
Моя гипотеза: в будущем компьютер перестанет быть отдельным устройством и станет средой вокруг человека, но вместе с возможностями вырастут и риски. Проверял я её с помощью анализа источников, сравнения и прогнозирования.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Начнём с истории. Первые компьютеры появились в 1940-х годах. Например, ENIAC весил около 27 тонн и работал на 17 с половиной тысячах электронных ламп.
Затем лампы заменили транзисторы — компьютеры стали меньше, быстрее и надёжнее. Потом появились микросхемы, где на одном кристалле сотни элементов. В 1970-х изобрели микропроцессор, и благодаря ему появился персональный компьютер. А в 2020-х главными стали искусственный интеллект и облачные технологии.
Главный тренд: компьютеры постоянно уменьшаются и становятся мощнее.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Посмотрите на сравнение: ENIAC весил 27 тонн, а современный смартфон — около 200 граммов и при этом намного мощнее.
Элементы в современных процессорах измеряются нанометрами — в тысячи раз тоньше человеческого волоса. Нейросети работают прямо в телефонах и ноутбуках. А облачные сервисы дают мощность «по запросу»: сложный расчёт можно выполнить на сервере, а не на своём устройстве.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главное — технологии будущего. Их четыре.
Первое — квантовые компьютеры. Они работают на кубитах и могут решать особые задачи, например, моделировать новые материалы и лекарства. Но это не замена обычному компьютеру, а дополнение к нему.
Второе — искусственный интеллект. Это помощник в учёбе и работе, он понимает речь и изображения.
Третье — фотонные и нейроморфные чипы. Одни используют свет вместо электричества, другие работают по принципу мозга. Они быстрее и экономнее по энергии.
Четвёртое — интернет вещей и дополненная реальность: умный дом, умный транспорт, очки, которые показывают информацию прямо перед глазами.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новых технологий есть и плюсы, и минусы.
Возможности: в медицине — более точная диагностика; в науке — сложные расчёты за минуты; на транспорте — больше безопасности; образование становится доступнее.
Риски: утечки данных и кибератаки, зависимость от гаджетов, автоматизация, из-за которой часть профессий изменится, и рост энергопотребления дата-центров. Поэтому важно использовать технологии осознанно.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Какие выводы я сделал. Первое: компьютер стал частью всей нашей жизни, а не просто отдельной машиной на столе. Второе: главные направления развития — искусственный интеллект и квантовые, энергоэффективные чипы. Третье: выиграет тот, кто учится и применяет технологии осознанно.
Мой продукт — эта презентация. Дальше эту тему можно исследовать глубже, например, изучить, как ИИ повлияет на профессии на транспорте.
Спасибо за внимание!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1z_ch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291840"/>
          </a:xfrm>
          <a:prstGeom prst="rect">
            <a:avLst/>
          </a:prstGeom>
        </p:spPr>
      </p:pic>
      <p:sp>
        <p:nvSpPr>
          <p:cNvPr id="4" name="A2f_label"/>
          <p:cNvSpPr txBox="1"/>
          <p:nvPr/>
        </p:nvSpPr>
        <p:spPr>
          <a:xfrm>
            <a:off x="548640" y="1005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ПРОЕКТ · ИНФОРМАТИКА</a:t>
            </a:r>
            <a:endParaRPr lang="en-US" sz="1200" dirty="0"/>
          </a:p>
        </p:txBody>
      </p:sp>
      <p:sp>
        <p:nvSpPr>
          <p:cNvPr id="5" name="A3w_title"/>
          <p:cNvSpPr txBox="1"/>
          <p:nvPr/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Компьютер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века</a:t>
            </a:r>
            <a:endParaRPr lang="en-US" sz="4400" dirty="0"/>
          </a:p>
        </p:txBody>
      </p:sp>
      <p:sp>
        <p:nvSpPr>
          <p:cNvPr id="6" name="A4w_sub"/>
          <p:cNvSpPr txBox="1"/>
          <p:nvPr/>
        </p:nvSpPr>
        <p:spPr>
          <a:xfrm>
            <a:off x="54864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перспективы</a:t>
            </a:r>
            <a:endParaRPr lang="en-US" sz="3200" dirty="0"/>
          </a:p>
        </p:txBody>
      </p:sp>
      <p:sp>
        <p:nvSpPr>
          <p:cNvPr id="7" name="A5f_author"/>
          <p:cNvSpPr txBox="1"/>
          <p:nvPr/>
        </p:nvSpPr>
        <p:spPr>
          <a:xfrm>
            <a:off x="54864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____________________  Курс ___ группа 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Техникум транспорта г. Орска, 2026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эта тема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875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" y="1642262"/>
            <a:ext cx="281635" cy="281635"/>
          </a:xfrm>
          <a:prstGeom prst="rect">
            <a:avLst/>
          </a:prstGeom>
        </p:spPr>
      </p:pic>
      <p:sp>
        <p:nvSpPr>
          <p:cNvPr id="8" name="A1f_head"/>
          <p:cNvSpPr txBox="1"/>
          <p:nvPr/>
        </p:nvSpPr>
        <p:spPr>
          <a:xfrm>
            <a:off x="150876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900" dirty="0"/>
          </a:p>
        </p:txBody>
      </p:sp>
      <p:sp>
        <p:nvSpPr>
          <p:cNvPr id="9" name="A1f_text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Компьютеры — везде</a:t>
            </a:r>
            <a:endParaRPr lang="en-US" sz="1400" dirty="0"/>
          </a:p>
        </p:txBody>
      </p:sp>
      <p:sp>
        <p:nvSpPr>
          <p:cNvPr id="10" name="A2f_card"/>
          <p:cNvSpPr/>
          <p:nvPr/>
        </p:nvSpPr>
        <p:spPr>
          <a:xfrm>
            <a:off x="3337560" y="1280160"/>
            <a:ext cx="2560320" cy="1463040"/>
          </a:xfrm>
          <a:prstGeom prst="roundRect">
            <a:avLst>
              <a:gd name="adj" fmla="val 875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1" name="A2z_circle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2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662" y="1642262"/>
            <a:ext cx="281635" cy="281635"/>
          </a:xfrm>
          <a:prstGeom prst="rect">
            <a:avLst/>
          </a:prstGeom>
        </p:spPr>
      </p:pic>
      <p:sp>
        <p:nvSpPr>
          <p:cNvPr id="13" name="A2f_head"/>
          <p:cNvSpPr txBox="1"/>
          <p:nvPr/>
        </p:nvSpPr>
        <p:spPr>
          <a:xfrm>
            <a:off x="429768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900" dirty="0"/>
          </a:p>
        </p:txBody>
      </p:sp>
      <p:sp>
        <p:nvSpPr>
          <p:cNvPr id="14" name="A2f_text"/>
          <p:cNvSpPr txBox="1"/>
          <p:nvPr/>
        </p:nvSpPr>
        <p:spPr>
          <a:xfrm>
            <a:off x="35204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 будет компьютер?</a:t>
            </a:r>
            <a:endParaRPr lang="en-US" sz="1400" dirty="0"/>
          </a:p>
        </p:txBody>
      </p:sp>
      <p:sp>
        <p:nvSpPr>
          <p:cNvPr id="15" name="A3f_card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875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6" name="A3z_circle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582" y="1642262"/>
            <a:ext cx="281635" cy="281635"/>
          </a:xfrm>
          <a:prstGeom prst="rect">
            <a:avLst/>
          </a:prstGeom>
        </p:spPr>
      </p:pic>
      <p:sp>
        <p:nvSpPr>
          <p:cNvPr id="18" name="A3f_head"/>
          <p:cNvSpPr txBox="1"/>
          <p:nvPr/>
        </p:nvSpPr>
        <p:spPr>
          <a:xfrm>
            <a:off x="708660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900" dirty="0"/>
          </a:p>
        </p:txBody>
      </p:sp>
      <p:sp>
        <p:nvSpPr>
          <p:cNvPr id="19" name="A3f_text"/>
          <p:cNvSpPr txBox="1"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· Сегодня · Будущее · Риски</a:t>
            </a:r>
            <a:endParaRPr lang="en-US" sz="1400" dirty="0"/>
          </a:p>
        </p:txBody>
      </p:sp>
      <p:sp>
        <p:nvSpPr>
          <p:cNvPr id="20" name="A4f_card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875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1" name="A4z_circle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A4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" y="3288182"/>
            <a:ext cx="281635" cy="281635"/>
          </a:xfrm>
          <a:prstGeom prst="rect">
            <a:avLst/>
          </a:prstGeom>
        </p:spPr>
      </p:pic>
      <p:sp>
        <p:nvSpPr>
          <p:cNvPr id="23" name="A4f_head"/>
          <p:cNvSpPr txBox="1"/>
          <p:nvPr/>
        </p:nvSpPr>
        <p:spPr>
          <a:xfrm>
            <a:off x="1508760" y="3108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900" dirty="0"/>
          </a:p>
        </p:txBody>
      </p:sp>
      <p:sp>
        <p:nvSpPr>
          <p:cNvPr id="24" name="A4f_text"/>
          <p:cNvSpPr txBox="1"/>
          <p:nvPr/>
        </p:nvSpPr>
        <p:spPr>
          <a:xfrm>
            <a:off x="7315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станет средой вокруг человека</a:t>
            </a:r>
            <a:endParaRPr lang="en-US" sz="1400" dirty="0"/>
          </a:p>
        </p:txBody>
      </p:sp>
      <p:sp>
        <p:nvSpPr>
          <p:cNvPr id="25" name="A5f_card"/>
          <p:cNvSpPr/>
          <p:nvPr/>
        </p:nvSpPr>
        <p:spPr>
          <a:xfrm>
            <a:off x="3337560" y="2926080"/>
            <a:ext cx="2560320" cy="1463040"/>
          </a:xfrm>
          <a:prstGeom prst="roundRect">
            <a:avLst>
              <a:gd name="adj" fmla="val 875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6" name="A5z_circle"/>
          <p:cNvSpPr/>
          <p:nvPr/>
        </p:nvSpPr>
        <p:spPr>
          <a:xfrm>
            <a:off x="3520440" y="310896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7" name="A5z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662" y="3288182"/>
            <a:ext cx="281635" cy="281635"/>
          </a:xfrm>
          <a:prstGeom prst="rect">
            <a:avLst/>
          </a:prstGeom>
        </p:spPr>
      </p:pic>
      <p:sp>
        <p:nvSpPr>
          <p:cNvPr id="28" name="A5f_head"/>
          <p:cNvSpPr txBox="1"/>
          <p:nvPr/>
        </p:nvSpPr>
        <p:spPr>
          <a:xfrm>
            <a:off x="4297680" y="3108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</a:t>
            </a:r>
            <a:endParaRPr lang="en-US" sz="1900" dirty="0"/>
          </a:p>
        </p:txBody>
      </p:sp>
      <p:sp>
        <p:nvSpPr>
          <p:cNvPr id="29" name="A5f_text"/>
          <p:cNvSpPr txBox="1"/>
          <p:nvPr/>
        </p:nvSpPr>
        <p:spPr>
          <a:xfrm>
            <a:off x="352044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· сравнение · прогноз</a:t>
            </a:r>
            <a:endParaRPr lang="en-US" sz="1400" dirty="0"/>
          </a:p>
        </p:txBody>
      </p:sp>
      <p:sp>
        <p:nvSpPr>
          <p:cNvPr id="30" name="A6f_card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875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1" name="A6z_circle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A6z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8582" y="3288182"/>
            <a:ext cx="281635" cy="281635"/>
          </a:xfrm>
          <a:prstGeom prst="rect">
            <a:avLst/>
          </a:prstGeom>
        </p:spPr>
      </p:pic>
      <p:sp>
        <p:nvSpPr>
          <p:cNvPr id="33" name="A6f_head"/>
          <p:cNvSpPr txBox="1"/>
          <p:nvPr/>
        </p:nvSpPr>
        <p:spPr>
          <a:xfrm>
            <a:off x="7086600" y="3108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900" dirty="0"/>
          </a:p>
        </p:txBody>
      </p:sp>
      <p:sp>
        <p:nvSpPr>
          <p:cNvPr id="34" name="A6f_text"/>
          <p:cNvSpPr txBox="1"/>
          <p:nvPr/>
        </p:nvSpPr>
        <p:spPr>
          <a:xfrm>
            <a:off x="630936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и проект</a:t>
            </a:r>
            <a:endParaRPr lang="en-US" sz="1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6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5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ламп к ИИ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A1w_line"/>
          <p:cNvSpPr/>
          <p:nvPr/>
        </p:nvSpPr>
        <p:spPr>
          <a:xfrm>
            <a:off x="731520" y="1828800"/>
            <a:ext cx="7680960" cy="54864"/>
          </a:xfrm>
          <a:prstGeom prst="rect">
            <a:avLst/>
          </a:prstGeom>
          <a:solidFill>
            <a:srgbClr val="A9B4DA">
              <a:alpha val="60000"/>
            </a:srgbClr>
          </a:solidFill>
          <a:ln w="12700">
            <a:solidFill>
              <a:srgbClr val="A9B4DA">
                <a:alpha val="60000"/>
              </a:srgbClr>
            </a:solidFill>
            <a:prstDash val="solid"/>
          </a:ln>
        </p:spPr>
      </p:sp>
      <p:sp>
        <p:nvSpPr>
          <p:cNvPr id="6" name="A2z_circle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A2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627632"/>
            <a:ext cx="402336" cy="402336"/>
          </a:xfrm>
          <a:prstGeom prst="rect">
            <a:avLst/>
          </a:prstGeom>
        </p:spPr>
      </p:pic>
      <p:sp>
        <p:nvSpPr>
          <p:cNvPr id="8" name="A2f_year"/>
          <p:cNvSpPr txBox="1"/>
          <p:nvPr/>
        </p:nvSpPr>
        <p:spPr>
          <a:xfrm>
            <a:off x="411480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1940-е</a:t>
            </a:r>
            <a:endParaRPr lang="en-US" sz="2000" dirty="0"/>
          </a:p>
        </p:txBody>
      </p:sp>
      <p:sp>
        <p:nvSpPr>
          <p:cNvPr id="9" name="A2f_name"/>
          <p:cNvSpPr txBox="1"/>
          <p:nvPr/>
        </p:nvSpPr>
        <p:spPr>
          <a:xfrm>
            <a:off x="41148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Лампы</a:t>
            </a:r>
            <a:endParaRPr lang="en-US" sz="1800" dirty="0"/>
          </a:p>
        </p:txBody>
      </p:sp>
      <p:sp>
        <p:nvSpPr>
          <p:cNvPr id="10" name="A2f_cap"/>
          <p:cNvSpPr txBox="1"/>
          <p:nvPr/>
        </p:nvSpPr>
        <p:spPr>
          <a:xfrm>
            <a:off x="50292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тонн</a:t>
            </a:r>
            <a:endParaRPr lang="en-US" sz="1400" dirty="0"/>
          </a:p>
        </p:txBody>
      </p:sp>
      <p:sp>
        <p:nvSpPr>
          <p:cNvPr id="11" name="A3z_circle"/>
          <p:cNvSpPr/>
          <p:nvPr/>
        </p:nvSpPr>
        <p:spPr>
          <a:xfrm>
            <a:off x="2487168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2" name="A3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627632"/>
            <a:ext cx="402336" cy="402336"/>
          </a:xfrm>
          <a:prstGeom prst="rect">
            <a:avLst/>
          </a:prstGeom>
        </p:spPr>
      </p:pic>
      <p:sp>
        <p:nvSpPr>
          <p:cNvPr id="13" name="A3f_year"/>
          <p:cNvSpPr txBox="1"/>
          <p:nvPr/>
        </p:nvSpPr>
        <p:spPr>
          <a:xfrm>
            <a:off x="2075688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1950-е</a:t>
            </a:r>
            <a:endParaRPr lang="en-US" sz="2000" dirty="0"/>
          </a:p>
        </p:txBody>
      </p:sp>
      <p:sp>
        <p:nvSpPr>
          <p:cNvPr id="14" name="A3f_name"/>
          <p:cNvSpPr txBox="1"/>
          <p:nvPr/>
        </p:nvSpPr>
        <p:spPr>
          <a:xfrm>
            <a:off x="2075688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Транзисторы</a:t>
            </a:r>
            <a:endParaRPr lang="en-US" sz="1800" dirty="0"/>
          </a:p>
        </p:txBody>
      </p:sp>
      <p:sp>
        <p:nvSpPr>
          <p:cNvPr id="15" name="A3f_cap"/>
          <p:cNvSpPr txBox="1"/>
          <p:nvPr/>
        </p:nvSpPr>
        <p:spPr>
          <a:xfrm>
            <a:off x="2167128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и быстрее</a:t>
            </a:r>
            <a:endParaRPr lang="en-US" sz="1400" dirty="0"/>
          </a:p>
        </p:txBody>
      </p:sp>
      <p:sp>
        <p:nvSpPr>
          <p:cNvPr id="16" name="A4z_circle"/>
          <p:cNvSpPr/>
          <p:nvPr/>
        </p:nvSpPr>
        <p:spPr>
          <a:xfrm>
            <a:off x="4151376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A4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627632"/>
            <a:ext cx="402336" cy="402336"/>
          </a:xfrm>
          <a:prstGeom prst="rect">
            <a:avLst/>
          </a:prstGeom>
        </p:spPr>
      </p:pic>
      <p:sp>
        <p:nvSpPr>
          <p:cNvPr id="18" name="A4f_year"/>
          <p:cNvSpPr txBox="1"/>
          <p:nvPr/>
        </p:nvSpPr>
        <p:spPr>
          <a:xfrm>
            <a:off x="3739896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1960-е</a:t>
            </a:r>
            <a:endParaRPr lang="en-US" sz="2000" dirty="0"/>
          </a:p>
        </p:txBody>
      </p:sp>
      <p:sp>
        <p:nvSpPr>
          <p:cNvPr id="19" name="A4f_name"/>
          <p:cNvSpPr txBox="1"/>
          <p:nvPr/>
        </p:nvSpPr>
        <p:spPr>
          <a:xfrm>
            <a:off x="3739896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Микросхемы</a:t>
            </a:r>
            <a:endParaRPr lang="en-US" sz="1800" dirty="0"/>
          </a:p>
        </p:txBody>
      </p:sp>
      <p:sp>
        <p:nvSpPr>
          <p:cNvPr id="20" name="A4f_cap"/>
          <p:cNvSpPr txBox="1"/>
          <p:nvPr/>
        </p:nvSpPr>
        <p:spPr>
          <a:xfrm>
            <a:off x="3831336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элементов</a:t>
            </a:r>
            <a:endParaRPr lang="en-US" sz="1400" dirty="0"/>
          </a:p>
        </p:txBody>
      </p:sp>
      <p:sp>
        <p:nvSpPr>
          <p:cNvPr id="21" name="A5z_circle"/>
          <p:cNvSpPr/>
          <p:nvPr/>
        </p:nvSpPr>
        <p:spPr>
          <a:xfrm>
            <a:off x="5815584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A5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627632"/>
            <a:ext cx="402336" cy="402336"/>
          </a:xfrm>
          <a:prstGeom prst="rect">
            <a:avLst/>
          </a:prstGeom>
        </p:spPr>
      </p:pic>
      <p:sp>
        <p:nvSpPr>
          <p:cNvPr id="23" name="A5f_year"/>
          <p:cNvSpPr txBox="1"/>
          <p:nvPr/>
        </p:nvSpPr>
        <p:spPr>
          <a:xfrm>
            <a:off x="5404104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1970-е</a:t>
            </a:r>
            <a:endParaRPr lang="en-US" sz="2000" dirty="0"/>
          </a:p>
        </p:txBody>
      </p:sp>
      <p:sp>
        <p:nvSpPr>
          <p:cNvPr id="24" name="A5f_name"/>
          <p:cNvSpPr txBox="1"/>
          <p:nvPr/>
        </p:nvSpPr>
        <p:spPr>
          <a:xfrm>
            <a:off x="5404104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</a:t>
            </a:r>
            <a:endParaRPr lang="en-US" sz="1800" dirty="0"/>
          </a:p>
        </p:txBody>
      </p:sp>
      <p:sp>
        <p:nvSpPr>
          <p:cNvPr id="25" name="A5f_cap"/>
          <p:cNvSpPr txBox="1"/>
          <p:nvPr/>
        </p:nvSpPr>
        <p:spPr>
          <a:xfrm>
            <a:off x="5495544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для всех</a:t>
            </a:r>
            <a:endParaRPr lang="en-US" sz="1400" dirty="0"/>
          </a:p>
        </p:txBody>
      </p:sp>
      <p:sp>
        <p:nvSpPr>
          <p:cNvPr id="26" name="A6z_circle"/>
          <p:cNvSpPr/>
          <p:nvPr/>
        </p:nvSpPr>
        <p:spPr>
          <a:xfrm>
            <a:off x="7479792" y="1371600"/>
            <a:ext cx="914400" cy="914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7" name="A6z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1627632"/>
            <a:ext cx="402336" cy="402336"/>
          </a:xfrm>
          <a:prstGeom prst="rect">
            <a:avLst/>
          </a:prstGeom>
        </p:spPr>
      </p:pic>
      <p:sp>
        <p:nvSpPr>
          <p:cNvPr id="28" name="A6f_year"/>
          <p:cNvSpPr txBox="1"/>
          <p:nvPr/>
        </p:nvSpPr>
        <p:spPr>
          <a:xfrm>
            <a:off x="7068312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2020-е</a:t>
            </a:r>
            <a:endParaRPr lang="en-US" sz="2000" dirty="0"/>
          </a:p>
        </p:txBody>
      </p:sp>
      <p:sp>
        <p:nvSpPr>
          <p:cNvPr id="29" name="A6f_name"/>
          <p:cNvSpPr txBox="1"/>
          <p:nvPr/>
        </p:nvSpPr>
        <p:spPr>
          <a:xfrm>
            <a:off x="7068312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</a:t>
            </a:r>
            <a:endParaRPr lang="en-US" sz="1800" dirty="0"/>
          </a:p>
        </p:txBody>
      </p:sp>
      <p:sp>
        <p:nvSpPr>
          <p:cNvPr id="30" name="A6f_cap"/>
          <p:cNvSpPr txBox="1"/>
          <p:nvPr/>
        </p:nvSpPr>
        <p:spPr>
          <a:xfrm>
            <a:off x="7159752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системы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5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600"/>
                            </p:stCondLst>
                            <p:childTnLst>
                              <p:par>
                                <p:cTn id="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250"/>
                            </p:stCondLst>
                            <p:childTnLst>
                              <p:par>
                                <p:cTn id="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Компьютер сегодня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280160"/>
            <a:ext cx="8046720" cy="1737360"/>
          </a:xfrm>
          <a:prstGeom prst="roundRect">
            <a:avLst>
              <a:gd name="adj" fmla="val 7368"/>
            </a:avLst>
          </a:prstGeom>
          <a:solidFill>
            <a:srgbClr val="1E2B6B"/>
          </a:solidFill>
          <a:ln w="12700">
            <a:solidFill>
              <a:srgbClr val="1E2B6B"/>
            </a:solidFill>
            <a:prstDash val="solid"/>
          </a:ln>
        </p:spPr>
      </p:sp>
      <p:sp>
        <p:nvSpPr>
          <p:cNvPr id="6" name="A2z_old"/>
          <p:cNvSpPr txBox="1"/>
          <p:nvPr/>
        </p:nvSpPr>
        <p:spPr>
          <a:xfrm>
            <a:off x="82296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т</a:t>
            </a:r>
            <a:endParaRPr lang="en-US" sz="6000" dirty="0"/>
          </a:p>
        </p:txBody>
      </p:sp>
      <p:sp>
        <p:nvSpPr>
          <p:cNvPr id="7" name="A2f_oldcap"/>
          <p:cNvSpPr txBox="1"/>
          <p:nvPr/>
        </p:nvSpPr>
        <p:spPr>
          <a:xfrm>
            <a:off x="8229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ENIAC, 1946</a:t>
            </a:r>
            <a:endParaRPr lang="en-US" sz="1600" dirty="0"/>
          </a:p>
        </p:txBody>
      </p:sp>
      <p:sp>
        <p:nvSpPr>
          <p:cNvPr id="8" name="A3z_circle"/>
          <p:cNvSpPr/>
          <p:nvPr/>
        </p:nvSpPr>
        <p:spPr>
          <a:xfrm>
            <a:off x="4160520" y="1645920"/>
            <a:ext cx="82296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9" name="A3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876349"/>
            <a:ext cx="362102" cy="362102"/>
          </a:xfrm>
          <a:prstGeom prst="rect">
            <a:avLst/>
          </a:prstGeom>
        </p:spPr>
      </p:pic>
      <p:sp>
        <p:nvSpPr>
          <p:cNvPr id="10" name="A4z_new"/>
          <p:cNvSpPr txBox="1"/>
          <p:nvPr/>
        </p:nvSpPr>
        <p:spPr>
          <a:xfrm>
            <a:off x="557784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г</a:t>
            </a:r>
            <a:endParaRPr lang="en-US" sz="6000" dirty="0"/>
          </a:p>
        </p:txBody>
      </p:sp>
      <p:sp>
        <p:nvSpPr>
          <p:cNvPr id="11" name="A4f_newcap"/>
          <p:cNvSpPr txBox="1"/>
          <p:nvPr/>
        </p:nvSpPr>
        <p:spPr>
          <a:xfrm>
            <a:off x="55778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смартфон сегодня</a:t>
            </a:r>
            <a:endParaRPr lang="en-US" sz="1600" dirty="0"/>
          </a:p>
        </p:txBody>
      </p:sp>
      <p:sp>
        <p:nvSpPr>
          <p:cNvPr id="12" name="A5f_card"/>
          <p:cNvSpPr/>
          <p:nvPr/>
        </p:nvSpPr>
        <p:spPr>
          <a:xfrm>
            <a:off x="548640" y="329184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3" name="A5z_circle"/>
          <p:cNvSpPr/>
          <p:nvPr/>
        </p:nvSpPr>
        <p:spPr>
          <a:xfrm>
            <a:off x="777240" y="3520440"/>
            <a:ext cx="731520" cy="7315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A5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6" y="3725266"/>
            <a:ext cx="321869" cy="321869"/>
          </a:xfrm>
          <a:prstGeom prst="rect">
            <a:avLst/>
          </a:prstGeom>
        </p:spPr>
      </p:pic>
      <p:sp>
        <p:nvSpPr>
          <p:cNvPr id="15" name="A5f_text"/>
          <p:cNvSpPr txBox="1"/>
          <p:nvPr/>
        </p:nvSpPr>
        <p:spPr>
          <a:xfrm>
            <a:off x="1645920" y="3291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Нанометры</a:t>
            </a:r>
            <a:endParaRPr lang="en-US" sz="1800" dirty="0"/>
          </a:p>
        </p:txBody>
      </p:sp>
      <p:sp>
        <p:nvSpPr>
          <p:cNvPr id="16" name="A6f_card"/>
          <p:cNvSpPr/>
          <p:nvPr/>
        </p:nvSpPr>
        <p:spPr>
          <a:xfrm>
            <a:off x="3337560" y="329184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7" name="A6z_circle"/>
          <p:cNvSpPr/>
          <p:nvPr/>
        </p:nvSpPr>
        <p:spPr>
          <a:xfrm>
            <a:off x="3566160" y="352044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8" name="A6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986" y="3725266"/>
            <a:ext cx="321869" cy="321869"/>
          </a:xfrm>
          <a:prstGeom prst="rect">
            <a:avLst/>
          </a:prstGeom>
        </p:spPr>
      </p:pic>
      <p:sp>
        <p:nvSpPr>
          <p:cNvPr id="19" name="A6f_text"/>
          <p:cNvSpPr txBox="1"/>
          <p:nvPr/>
        </p:nvSpPr>
        <p:spPr>
          <a:xfrm>
            <a:off x="4434840" y="3291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кармане</a:t>
            </a:r>
            <a:endParaRPr lang="en-US" sz="1800" dirty="0"/>
          </a:p>
        </p:txBody>
      </p:sp>
      <p:sp>
        <p:nvSpPr>
          <p:cNvPr id="20" name="A7f_card"/>
          <p:cNvSpPr/>
          <p:nvPr/>
        </p:nvSpPr>
        <p:spPr>
          <a:xfrm>
            <a:off x="6126480" y="329184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1" name="A7z_circle"/>
          <p:cNvSpPr/>
          <p:nvPr/>
        </p:nvSpPr>
        <p:spPr>
          <a:xfrm>
            <a:off x="6355080" y="3520440"/>
            <a:ext cx="731520" cy="7315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A7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906" y="3725266"/>
            <a:ext cx="321869" cy="321869"/>
          </a:xfrm>
          <a:prstGeom prst="rect">
            <a:avLst/>
          </a:prstGeom>
        </p:spPr>
      </p:pic>
      <p:sp>
        <p:nvSpPr>
          <p:cNvPr id="23" name="A7f_text"/>
          <p:cNvSpPr txBox="1"/>
          <p:nvPr/>
        </p:nvSpPr>
        <p:spPr>
          <a:xfrm>
            <a:off x="7223760" y="3291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</a:t>
            </a:r>
            <a:endParaRPr lang="en-US" sz="1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5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25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9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будущего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6" name="A1z_circle"/>
          <p:cNvSpPr/>
          <p:nvPr/>
        </p:nvSpPr>
        <p:spPr>
          <a:xfrm>
            <a:off x="822960" y="1645920"/>
            <a:ext cx="868680" cy="8686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A1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1889150"/>
            <a:ext cx="382219" cy="382219"/>
          </a:xfrm>
          <a:prstGeom prst="rect">
            <a:avLst/>
          </a:prstGeom>
        </p:spPr>
      </p:pic>
      <p:sp>
        <p:nvSpPr>
          <p:cNvPr id="8" name="A1f_head"/>
          <p:cNvSpPr txBox="1"/>
          <p:nvPr/>
        </p:nvSpPr>
        <p:spPr>
          <a:xfrm>
            <a:off x="19202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Квантовые</a:t>
            </a:r>
            <a:endParaRPr lang="en-US" sz="2000" dirty="0"/>
          </a:p>
        </p:txBody>
      </p:sp>
      <p:sp>
        <p:nvSpPr>
          <p:cNvPr id="9" name="A1f_text"/>
          <p:cNvSpPr txBox="1"/>
          <p:nvPr/>
        </p:nvSpPr>
        <p:spPr>
          <a:xfrm>
            <a:off x="19202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кубиты и сверхбыстрые расчёты</a:t>
            </a:r>
            <a:endParaRPr lang="en-US" sz="1500" dirty="0"/>
          </a:p>
        </p:txBody>
      </p:sp>
      <p:sp>
        <p:nvSpPr>
          <p:cNvPr id="10" name="A2f_card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1" name="A2z_circle"/>
          <p:cNvSpPr/>
          <p:nvPr/>
        </p:nvSpPr>
        <p:spPr>
          <a:xfrm>
            <a:off x="4937760" y="1645920"/>
            <a:ext cx="868680" cy="8686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2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1889150"/>
            <a:ext cx="382219" cy="382219"/>
          </a:xfrm>
          <a:prstGeom prst="rect">
            <a:avLst/>
          </a:prstGeom>
        </p:spPr>
      </p:pic>
      <p:sp>
        <p:nvSpPr>
          <p:cNvPr id="13" name="A2f_head"/>
          <p:cNvSpPr txBox="1"/>
          <p:nvPr/>
        </p:nvSpPr>
        <p:spPr>
          <a:xfrm>
            <a:off x="60350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</a:t>
            </a:r>
            <a:endParaRPr lang="en-US" sz="2000" dirty="0"/>
          </a:p>
        </p:txBody>
      </p:sp>
      <p:sp>
        <p:nvSpPr>
          <p:cNvPr id="14" name="A2f_text"/>
          <p:cNvSpPr txBox="1"/>
          <p:nvPr/>
        </p:nvSpPr>
        <p:spPr>
          <a:xfrm>
            <a:off x="60350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во всём</a:t>
            </a:r>
            <a:endParaRPr lang="en-US" sz="1500" dirty="0"/>
          </a:p>
        </p:txBody>
      </p:sp>
      <p:sp>
        <p:nvSpPr>
          <p:cNvPr id="15" name="A3f_card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6" name="A3z_circle"/>
          <p:cNvSpPr/>
          <p:nvPr/>
        </p:nvSpPr>
        <p:spPr>
          <a:xfrm>
            <a:off x="822960" y="3337560"/>
            <a:ext cx="868680" cy="8686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7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3580790"/>
            <a:ext cx="382219" cy="382219"/>
          </a:xfrm>
          <a:prstGeom prst="rect">
            <a:avLst/>
          </a:prstGeom>
        </p:spPr>
      </p:pic>
      <p:sp>
        <p:nvSpPr>
          <p:cNvPr id="18" name="A3f_head"/>
          <p:cNvSpPr txBox="1"/>
          <p:nvPr/>
        </p:nvSpPr>
        <p:spPr>
          <a:xfrm>
            <a:off x="19202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Фотонные чипы</a:t>
            </a:r>
            <a:endParaRPr lang="en-US" sz="2000" dirty="0"/>
          </a:p>
        </p:txBody>
      </p:sp>
      <p:sp>
        <p:nvSpPr>
          <p:cNvPr id="19" name="A3f_text"/>
          <p:cNvSpPr txBox="1"/>
          <p:nvPr/>
        </p:nvSpPr>
        <p:spPr>
          <a:xfrm>
            <a:off x="19202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вместо тока</a:t>
            </a:r>
            <a:endParaRPr lang="en-US" sz="1500" dirty="0"/>
          </a:p>
        </p:txBody>
      </p:sp>
      <p:sp>
        <p:nvSpPr>
          <p:cNvPr id="20" name="A4f_card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1" name="A4z_circle"/>
          <p:cNvSpPr/>
          <p:nvPr/>
        </p:nvSpPr>
        <p:spPr>
          <a:xfrm>
            <a:off x="4937760" y="3337560"/>
            <a:ext cx="868680" cy="8686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A4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990" y="3580790"/>
            <a:ext cx="382219" cy="382219"/>
          </a:xfrm>
          <a:prstGeom prst="rect">
            <a:avLst/>
          </a:prstGeom>
        </p:spPr>
      </p:pic>
      <p:sp>
        <p:nvSpPr>
          <p:cNvPr id="23" name="A4f_head"/>
          <p:cNvSpPr txBox="1"/>
          <p:nvPr/>
        </p:nvSpPr>
        <p:spPr>
          <a:xfrm>
            <a:off x="60350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вещей и AR</a:t>
            </a:r>
            <a:endParaRPr lang="en-US" sz="2000" dirty="0"/>
          </a:p>
        </p:txBody>
      </p:sp>
      <p:sp>
        <p:nvSpPr>
          <p:cNvPr id="24" name="A4f_text"/>
          <p:cNvSpPr txBox="1"/>
          <p:nvPr/>
        </p:nvSpPr>
        <p:spPr>
          <a:xfrm>
            <a:off x="60350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дом, умные очки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нас ждёт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A1f_card"/>
          <p:cNvSpPr/>
          <p:nvPr/>
        </p:nvSpPr>
        <p:spPr>
          <a:xfrm>
            <a:off x="548640" y="123444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6" name="A1f_card"/>
          <p:cNvSpPr/>
          <p:nvPr/>
        </p:nvSpPr>
        <p:spPr>
          <a:xfrm>
            <a:off x="4663440" y="123444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7" name="A1f_h1"/>
          <p:cNvSpPr txBox="1"/>
          <p:nvPr/>
        </p:nvSpPr>
        <p:spPr>
          <a:xfrm>
            <a:off x="82296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2200" dirty="0"/>
          </a:p>
        </p:txBody>
      </p:sp>
      <p:sp>
        <p:nvSpPr>
          <p:cNvPr id="8" name="A1f_h2"/>
          <p:cNvSpPr txBox="1"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2200" dirty="0"/>
          </a:p>
        </p:txBody>
      </p:sp>
      <p:sp>
        <p:nvSpPr>
          <p:cNvPr id="9" name="A2z_circle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0" name="A2z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2106778"/>
            <a:ext cx="221285" cy="221285"/>
          </a:xfrm>
          <a:prstGeom prst="rect">
            <a:avLst/>
          </a:prstGeom>
        </p:spPr>
      </p:pic>
      <p:sp>
        <p:nvSpPr>
          <p:cNvPr id="11" name="A2f_pro"/>
          <p:cNvSpPr txBox="1"/>
          <p:nvPr/>
        </p:nvSpPr>
        <p:spPr>
          <a:xfrm>
            <a:off x="150876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800" dirty="0"/>
          </a:p>
        </p:txBody>
      </p:sp>
      <p:sp>
        <p:nvSpPr>
          <p:cNvPr id="12" name="A2z_circle"/>
          <p:cNvSpPr/>
          <p:nvPr/>
        </p:nvSpPr>
        <p:spPr>
          <a:xfrm>
            <a:off x="4937760" y="19659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A2z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8" y="2106778"/>
            <a:ext cx="221285" cy="221285"/>
          </a:xfrm>
          <a:prstGeom prst="rect">
            <a:avLst/>
          </a:prstGeom>
        </p:spPr>
      </p:pic>
      <p:sp>
        <p:nvSpPr>
          <p:cNvPr id="14" name="A2f_con"/>
          <p:cNvSpPr txBox="1"/>
          <p:nvPr/>
        </p:nvSpPr>
        <p:spPr>
          <a:xfrm>
            <a:off x="562356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800" dirty="0"/>
          </a:p>
        </p:txBody>
      </p:sp>
      <p:sp>
        <p:nvSpPr>
          <p:cNvPr id="15" name="A3z_circle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A3z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2746858"/>
            <a:ext cx="221285" cy="221285"/>
          </a:xfrm>
          <a:prstGeom prst="rect">
            <a:avLst/>
          </a:prstGeom>
        </p:spPr>
      </p:pic>
      <p:sp>
        <p:nvSpPr>
          <p:cNvPr id="17" name="A3f_pro"/>
          <p:cNvSpPr txBox="1"/>
          <p:nvPr/>
        </p:nvSpPr>
        <p:spPr>
          <a:xfrm>
            <a:off x="150876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Наука</a:t>
            </a:r>
            <a:endParaRPr lang="en-US" sz="1800" dirty="0"/>
          </a:p>
        </p:txBody>
      </p:sp>
      <p:sp>
        <p:nvSpPr>
          <p:cNvPr id="18" name="A3z_circle"/>
          <p:cNvSpPr/>
          <p:nvPr/>
        </p:nvSpPr>
        <p:spPr>
          <a:xfrm>
            <a:off x="4937760" y="260604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A3z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578" y="2746858"/>
            <a:ext cx="221285" cy="221285"/>
          </a:xfrm>
          <a:prstGeom prst="rect">
            <a:avLst/>
          </a:prstGeom>
        </p:spPr>
      </p:pic>
      <p:sp>
        <p:nvSpPr>
          <p:cNvPr id="20" name="A3f_con"/>
          <p:cNvSpPr txBox="1"/>
          <p:nvPr/>
        </p:nvSpPr>
        <p:spPr>
          <a:xfrm>
            <a:off x="562356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endParaRPr lang="en-US" sz="1800" dirty="0"/>
          </a:p>
        </p:txBody>
      </p:sp>
      <p:sp>
        <p:nvSpPr>
          <p:cNvPr id="21" name="A4z_circle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A4z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78" y="3386938"/>
            <a:ext cx="221285" cy="221285"/>
          </a:xfrm>
          <a:prstGeom prst="rect">
            <a:avLst/>
          </a:prstGeom>
        </p:spPr>
      </p:pic>
      <p:sp>
        <p:nvSpPr>
          <p:cNvPr id="23" name="A4f_pro"/>
          <p:cNvSpPr txBox="1"/>
          <p:nvPr/>
        </p:nvSpPr>
        <p:spPr>
          <a:xfrm>
            <a:off x="150876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endParaRPr lang="en-US" sz="1800" dirty="0"/>
          </a:p>
        </p:txBody>
      </p:sp>
      <p:sp>
        <p:nvSpPr>
          <p:cNvPr id="24" name="A4z_circle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5" name="A4z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8578" y="3386938"/>
            <a:ext cx="221285" cy="221285"/>
          </a:xfrm>
          <a:prstGeom prst="rect">
            <a:avLst/>
          </a:prstGeom>
        </p:spPr>
      </p:pic>
      <p:sp>
        <p:nvSpPr>
          <p:cNvPr id="26" name="A4f_con"/>
          <p:cNvSpPr txBox="1"/>
          <p:nvPr/>
        </p:nvSpPr>
        <p:spPr>
          <a:xfrm>
            <a:off x="562356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Профессии</a:t>
            </a:r>
            <a:endParaRPr lang="en-US" sz="1800" dirty="0"/>
          </a:p>
        </p:txBody>
      </p:sp>
      <p:sp>
        <p:nvSpPr>
          <p:cNvPr id="27" name="A5z_circle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8" name="A5z_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778" y="4027018"/>
            <a:ext cx="221285" cy="221285"/>
          </a:xfrm>
          <a:prstGeom prst="rect">
            <a:avLst/>
          </a:prstGeom>
        </p:spPr>
      </p:pic>
      <p:sp>
        <p:nvSpPr>
          <p:cNvPr id="29" name="A5f_pro"/>
          <p:cNvSpPr txBox="1"/>
          <p:nvPr/>
        </p:nvSpPr>
        <p:spPr>
          <a:xfrm>
            <a:off x="150876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800" dirty="0"/>
          </a:p>
        </p:txBody>
      </p:sp>
      <p:sp>
        <p:nvSpPr>
          <p:cNvPr id="30" name="A5z_circle"/>
          <p:cNvSpPr/>
          <p:nvPr/>
        </p:nvSpPr>
        <p:spPr>
          <a:xfrm>
            <a:off x="4937760" y="388620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1" name="A5z_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8578" y="4027018"/>
            <a:ext cx="221285" cy="221285"/>
          </a:xfrm>
          <a:prstGeom prst="rect">
            <a:avLst/>
          </a:prstGeom>
        </p:spPr>
      </p:pic>
      <p:sp>
        <p:nvSpPr>
          <p:cNvPr id="32" name="A5f_con"/>
          <p:cNvSpPr txBox="1"/>
          <p:nvPr/>
        </p:nvSpPr>
        <p:spPr>
          <a:xfrm>
            <a:off x="562356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</a:t>
            </a:r>
            <a:endParaRPr lang="en-US" sz="1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95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600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3" name="Num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A1z_num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A1z_numt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A1w_text"/>
          <p:cNvSpPr txBox="1"/>
          <p:nvPr/>
        </p:nvSpPr>
        <p:spPr>
          <a:xfrm>
            <a:off x="1508760" y="12801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— везде</a:t>
            </a:r>
            <a:endParaRPr lang="en-US" sz="2600" dirty="0"/>
          </a:p>
        </p:txBody>
      </p:sp>
      <p:sp>
        <p:nvSpPr>
          <p:cNvPr id="8" name="A2z_num"/>
          <p:cNvSpPr/>
          <p:nvPr/>
        </p:nvSpPr>
        <p:spPr>
          <a:xfrm>
            <a:off x="548640" y="2194560"/>
            <a:ext cx="685800" cy="6858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A2z_numt"/>
          <p:cNvSpPr txBox="1"/>
          <p:nvPr/>
        </p:nvSpPr>
        <p:spPr>
          <a:xfrm>
            <a:off x="5486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A2w_text"/>
          <p:cNvSpPr txBox="1"/>
          <p:nvPr/>
        </p:nvSpPr>
        <p:spPr>
          <a:xfrm>
            <a:off x="150876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Будущее: ИИ + квантовые чипы</a:t>
            </a:r>
            <a:endParaRPr lang="en-US" sz="2600" dirty="0"/>
          </a:p>
        </p:txBody>
      </p:sp>
      <p:sp>
        <p:nvSpPr>
          <p:cNvPr id="11" name="A3z_num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A3z_numt"/>
          <p:cNvSpPr txBox="1"/>
          <p:nvPr/>
        </p:nvSpPr>
        <p:spPr>
          <a:xfrm>
            <a:off x="54864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A3w_text"/>
          <p:cNvSpPr txBox="1"/>
          <p:nvPr/>
        </p:nvSpPr>
        <p:spPr>
          <a:xfrm>
            <a:off x="1508760" y="31089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 и применять осознанно</a:t>
            </a:r>
            <a:endParaRPr lang="en-US" sz="2600" dirty="0"/>
          </a:p>
        </p:txBody>
      </p:sp>
      <p:sp>
        <p:nvSpPr>
          <p:cNvPr id="14" name="A4z_thanks"/>
          <p:cNvSpPr txBox="1"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3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5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5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 21 века: перспективы</dc:title>
  <dc:subject>PptxGenJS Presentation</dc:subject>
  <dc:creator>Индивидуальный проект</dc:creator>
  <cp:lastModifiedBy>Индивидуальный проект</cp:lastModifiedBy>
  <cp:revision>1</cp:revision>
  <dcterms:created xsi:type="dcterms:W3CDTF">2026-10-13T05:55:00Z</dcterms:created>
  <dcterms:modified xsi:type="dcterms:W3CDTF">2026-10-13T05:55:00Z</dcterms:modified>
</cp:coreProperties>
</file>