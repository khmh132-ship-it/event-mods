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Моя тема — «Компьютер 21 века, перспективы». Я хочу рассказать, каким будет компьютер завтра и что это изменит для каждого из нас.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я выбрал эту тему? Компьютеры сегодня есть везде: в телефоне, в машине, на транспорте, в магазине. Технологии развиваются так быстро, что важно понимать, куда они движутся.
Цель моего проекта — выяснить, каким будет компьютер в 21 веке и какие у него перспективы.
Задачи: изучить историю компьютеров, описать современный компьютер, рассмотреть технологии будущего и оценить плюсы и риски.
Моя гипотеза: в будущем компьютер перестанет быть отдельным устройством и станет средой вокруг человека, но вместе с возможностями вырастут и риски. Проверял я её с помощью анализа источников, сравнения и прогнозирования.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разберёмся, что такое компьютер. Это электронное устройство, которое принимает информацию, хранит её, обрабатывает по программе и выдаёт результат.
Любой компьютер состоит из нескольких частей. Процессор — это «мозг», он выполняет команды. Память хранит данные и программы. Устройства ввода и вывода — клавиатура, мышь, экран, динамики. И программы, без которых техника не работает.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Начнём с истории. Первые компьютеры появились в 1940-х годах. Например, ENIAC весил около 27 тонн и работал на 17 с половиной тысячах электронных ламп.
Затем лампы заменили транзисторы — компьютеры стали меньше, быстрее и надёжнее. Потом появились микросхемы, где на одном кристалле сотни элементов. В 1970-х изобрели микропроцессор, и благодаря ему появился персональный компьютер. А в 2020-х главными стали искусственный интеллект и облачные технологии.
Главный тренд: компьютеры постоянно уменьшаются и становятся мощнее.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Посмотрите на сравнение: ENIAC весил 27 тонн, а современный смартфон — около 200 граммов и при этом намного мощнее.
Элементы в современных процессорах измеряются нанометрами — в тысячи раз тоньше человеческого волоса. Нейросети работают прямо в телефонах и ноутбуках. А облачные сервисы дают мощность «по запросу»: сложный расчёт можно выполнить на сервере, а не на своём устройстве.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главное — технологии будущего. Их четыре.
Первое — квантовые компьютеры. Они работают на кубитах и могут решать особые задачи, например, моделировать новые материалы и лекарства. Но это не замена обычному компьютеру, а дополнение к нему.
Второе — искусственный интеллект. Это помощник в учёбе и работе, он понимает речь и изображения.
Третье — фотонные и нейроморфные чипы. Одни используют свет вместо электричества, другие работают по принципу мозга. Они быстрее и экономнее по энергии.
Четвёртое — интернет вещей и дополненная реальность: умный дом, умный транспорт, очки, которые показывают информацию прямо перед глазами.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о перспективах компьютера в 21 веке. Во-первых, число подключённых устройств быстро растёт: по оценке IoT Analytics, их было около 18,5 миллиарда в 2024 году, около 21 миллиарда в 2025 году, а к 2030 году может быть около 39 миллиардов.
Во-вторых, искусственный интеллект станет встроенной функцией почти каждого устройства. В-третьих, квантовые компьютеры появятся как специальные ускорители для науки и медицины. И в-четвёртых, главным станет не размер, а энергоэффективность: больше возможностей при меньшем расходе энергии.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новых технологий есть и плюсы, и минусы.
Возможности: в медицине — более точная диагностика; в науке — сложные расчёты за минуты; на транспорте — больше безопасности; образование становится доступнее.
Риски: утечки данных и кибератаки, зависимость от гаджетов, автоматизация, из-за которой часть профессий изменится, и рост энергопотребления дата-центров. Поэтому важно использовать технологии осознанно.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Какие выводы я сделал. Первое: компьютер стал частью всей нашей жизни, а не просто отдельной машиной на столе. Второе: главные направления развития — искусственный интеллект и квантовые, энергоэффективные чипы. Третье: выиграет тот, кто учится и применяет технологии осознанно.
Мой продукт — эта презентация. Дальше эту тему можно исследовать глубже, например, изучить, как ИИ повлияет на профессии на транспорте.
Спасибо за внимание! Готов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1z_chi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868680"/>
            <a:ext cx="3291840" cy="3291840"/>
          </a:xfrm>
          <a:prstGeom prst="rect">
            <a:avLst/>
          </a:prstGeom>
        </p:spPr>
      </p:pic>
      <p:sp>
        <p:nvSpPr>
          <p:cNvPr id="4" name="A2f_label"/>
          <p:cNvSpPr txBox="1"/>
          <p:nvPr/>
        </p:nvSpPr>
        <p:spPr>
          <a:xfrm>
            <a:off x="548640" y="1005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ИНДИВИДУАЛЬНЫЙ ПРОЕКТ · ИНФОРМАТИКА</a:t>
            </a:r>
            <a:endParaRPr lang="en-US" sz="1200" dirty="0"/>
          </a:p>
        </p:txBody>
      </p:sp>
      <p:sp>
        <p:nvSpPr>
          <p:cNvPr id="5" name="A3w_title"/>
          <p:cNvSpPr txBox="1"/>
          <p:nvPr/>
        </p:nvSpPr>
        <p:spPr>
          <a:xfrm>
            <a:off x="548640" y="141732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Компьютер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века</a:t>
            </a:r>
            <a:endParaRPr lang="en-US" sz="4400" dirty="0"/>
          </a:p>
        </p:txBody>
      </p:sp>
      <p:sp>
        <p:nvSpPr>
          <p:cNvPr id="6" name="A4w_sub"/>
          <p:cNvSpPr txBox="1"/>
          <p:nvPr/>
        </p:nvSpPr>
        <p:spPr>
          <a:xfrm>
            <a:off x="548640" y="30175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перспективы</a:t>
            </a:r>
            <a:endParaRPr lang="en-US" sz="3200" dirty="0"/>
          </a:p>
        </p:txBody>
      </p:sp>
      <p:sp>
        <p:nvSpPr>
          <p:cNvPr id="7" name="A5f_author"/>
          <p:cNvSpPr txBox="1"/>
          <p:nvPr/>
        </p:nvSpPr>
        <p:spPr>
          <a:xfrm>
            <a:off x="548640" y="41148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Выполнил: ____________________  Курс ___ группа _____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Руководитель: ____________________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Техникум транспорта г. Орска, 2026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95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6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A1f_card"/>
          <p:cNvSpPr/>
          <p:nvPr/>
        </p:nvSpPr>
        <p:spPr>
          <a:xfrm>
            <a:off x="548640" y="1005840"/>
            <a:ext cx="2560320" cy="1554480"/>
          </a:xfrm>
          <a:prstGeom prst="roundRect">
            <a:avLst>
              <a:gd name="adj" fmla="val 8235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5" name="A1z_circle"/>
          <p:cNvSpPr/>
          <p:nvPr/>
        </p:nvSpPr>
        <p:spPr>
          <a:xfrm>
            <a:off x="731520" y="1188720"/>
            <a:ext cx="640080" cy="64008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6" name="A1z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742" y="1367942"/>
            <a:ext cx="281635" cy="281635"/>
          </a:xfrm>
          <a:prstGeom prst="rect">
            <a:avLst/>
          </a:prstGeom>
        </p:spPr>
      </p:pic>
      <p:sp>
        <p:nvSpPr>
          <p:cNvPr id="7" name="A1f_head"/>
          <p:cNvSpPr txBox="1"/>
          <p:nvPr/>
        </p:nvSpPr>
        <p:spPr>
          <a:xfrm>
            <a:off x="1508760" y="118872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900" dirty="0"/>
          </a:p>
        </p:txBody>
      </p:sp>
      <p:sp>
        <p:nvSpPr>
          <p:cNvPr id="8" name="A1f_text"/>
          <p:cNvSpPr txBox="1"/>
          <p:nvPr/>
        </p:nvSpPr>
        <p:spPr>
          <a:xfrm>
            <a:off x="731520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Компьютеры — везде</a:t>
            </a:r>
            <a:endParaRPr lang="en-US" sz="1400" dirty="0"/>
          </a:p>
        </p:txBody>
      </p:sp>
      <p:sp>
        <p:nvSpPr>
          <p:cNvPr id="9" name="A2f_card"/>
          <p:cNvSpPr/>
          <p:nvPr/>
        </p:nvSpPr>
        <p:spPr>
          <a:xfrm>
            <a:off x="3337560" y="1005840"/>
            <a:ext cx="2560320" cy="1554480"/>
          </a:xfrm>
          <a:prstGeom prst="roundRect">
            <a:avLst>
              <a:gd name="adj" fmla="val 8235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10" name="A2z_circle"/>
          <p:cNvSpPr/>
          <p:nvPr/>
        </p:nvSpPr>
        <p:spPr>
          <a:xfrm>
            <a:off x="3520440" y="1188720"/>
            <a:ext cx="640080" cy="6400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1" name="A2z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9662" y="1367942"/>
            <a:ext cx="281635" cy="281635"/>
          </a:xfrm>
          <a:prstGeom prst="rect">
            <a:avLst/>
          </a:prstGeom>
        </p:spPr>
      </p:pic>
      <p:sp>
        <p:nvSpPr>
          <p:cNvPr id="12" name="A2f_head"/>
          <p:cNvSpPr txBox="1"/>
          <p:nvPr/>
        </p:nvSpPr>
        <p:spPr>
          <a:xfrm>
            <a:off x="4297680" y="118872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900" dirty="0"/>
          </a:p>
        </p:txBody>
      </p:sp>
      <p:sp>
        <p:nvSpPr>
          <p:cNvPr id="13" name="A2f_text"/>
          <p:cNvSpPr txBox="1"/>
          <p:nvPr/>
        </p:nvSpPr>
        <p:spPr>
          <a:xfrm>
            <a:off x="3520440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Каким будет компьютер?</a:t>
            </a:r>
            <a:endParaRPr lang="en-US" sz="1400" dirty="0"/>
          </a:p>
        </p:txBody>
      </p:sp>
      <p:sp>
        <p:nvSpPr>
          <p:cNvPr id="14" name="A3f_card"/>
          <p:cNvSpPr/>
          <p:nvPr/>
        </p:nvSpPr>
        <p:spPr>
          <a:xfrm>
            <a:off x="6126480" y="1005840"/>
            <a:ext cx="2560320" cy="1554480"/>
          </a:xfrm>
          <a:prstGeom prst="roundRect">
            <a:avLst>
              <a:gd name="adj" fmla="val 8235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15" name="A3z_circle"/>
          <p:cNvSpPr/>
          <p:nvPr/>
        </p:nvSpPr>
        <p:spPr>
          <a:xfrm>
            <a:off x="6309360" y="1188720"/>
            <a:ext cx="640080" cy="64008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6" name="A3z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8582" y="1367942"/>
            <a:ext cx="281635" cy="281635"/>
          </a:xfrm>
          <a:prstGeom prst="rect">
            <a:avLst/>
          </a:prstGeom>
        </p:spPr>
      </p:pic>
      <p:sp>
        <p:nvSpPr>
          <p:cNvPr id="17" name="A3f_head"/>
          <p:cNvSpPr txBox="1"/>
          <p:nvPr/>
        </p:nvSpPr>
        <p:spPr>
          <a:xfrm>
            <a:off x="7086600" y="118872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1900" dirty="0"/>
          </a:p>
        </p:txBody>
      </p:sp>
      <p:sp>
        <p:nvSpPr>
          <p:cNvPr id="18" name="A3f_text"/>
          <p:cNvSpPr txBox="1"/>
          <p:nvPr/>
        </p:nvSpPr>
        <p:spPr>
          <a:xfrm>
            <a:off x="6309360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· Сегодня · Будущее · Риски</a:t>
            </a:r>
            <a:endParaRPr lang="en-US" sz="1400" dirty="0"/>
          </a:p>
        </p:txBody>
      </p:sp>
      <p:sp>
        <p:nvSpPr>
          <p:cNvPr id="19" name="A4f_card"/>
          <p:cNvSpPr/>
          <p:nvPr/>
        </p:nvSpPr>
        <p:spPr>
          <a:xfrm>
            <a:off x="548640" y="2743200"/>
            <a:ext cx="2560320" cy="1554480"/>
          </a:xfrm>
          <a:prstGeom prst="roundRect">
            <a:avLst>
              <a:gd name="adj" fmla="val 8235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20" name="A4z_circle"/>
          <p:cNvSpPr/>
          <p:nvPr/>
        </p:nvSpPr>
        <p:spPr>
          <a:xfrm>
            <a:off x="731520" y="2926080"/>
            <a:ext cx="640080" cy="6400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1" name="A4z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" y="3105302"/>
            <a:ext cx="281635" cy="281635"/>
          </a:xfrm>
          <a:prstGeom prst="rect">
            <a:avLst/>
          </a:prstGeom>
        </p:spPr>
      </p:pic>
      <p:sp>
        <p:nvSpPr>
          <p:cNvPr id="22" name="A4f_head"/>
          <p:cNvSpPr txBox="1"/>
          <p:nvPr/>
        </p:nvSpPr>
        <p:spPr>
          <a:xfrm>
            <a:off x="1508760" y="29260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</a:t>
            </a:r>
            <a:endParaRPr lang="en-US" sz="1900" dirty="0"/>
          </a:p>
        </p:txBody>
      </p:sp>
      <p:sp>
        <p:nvSpPr>
          <p:cNvPr id="23" name="A4f_text"/>
          <p:cNvSpPr txBox="1"/>
          <p:nvPr/>
        </p:nvSpPr>
        <p:spPr>
          <a:xfrm>
            <a:off x="731520" y="3657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Компьютер станет средой вокруг человека</a:t>
            </a:r>
            <a:endParaRPr lang="en-US" sz="1400" dirty="0"/>
          </a:p>
        </p:txBody>
      </p:sp>
      <p:sp>
        <p:nvSpPr>
          <p:cNvPr id="24" name="A5f_card"/>
          <p:cNvSpPr/>
          <p:nvPr/>
        </p:nvSpPr>
        <p:spPr>
          <a:xfrm>
            <a:off x="3337560" y="2743200"/>
            <a:ext cx="2560320" cy="1554480"/>
          </a:xfrm>
          <a:prstGeom prst="roundRect">
            <a:avLst>
              <a:gd name="adj" fmla="val 8235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25" name="A5z_circle"/>
          <p:cNvSpPr/>
          <p:nvPr/>
        </p:nvSpPr>
        <p:spPr>
          <a:xfrm>
            <a:off x="3520440" y="2926080"/>
            <a:ext cx="640080" cy="64008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26" name="A5z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9662" y="3105302"/>
            <a:ext cx="281635" cy="281635"/>
          </a:xfrm>
          <a:prstGeom prst="rect">
            <a:avLst/>
          </a:prstGeom>
        </p:spPr>
      </p:pic>
      <p:sp>
        <p:nvSpPr>
          <p:cNvPr id="27" name="A5f_head"/>
          <p:cNvSpPr txBox="1"/>
          <p:nvPr/>
        </p:nvSpPr>
        <p:spPr>
          <a:xfrm>
            <a:off x="4297680" y="29260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Методы</a:t>
            </a:r>
            <a:endParaRPr lang="en-US" sz="1900" dirty="0"/>
          </a:p>
        </p:txBody>
      </p:sp>
      <p:sp>
        <p:nvSpPr>
          <p:cNvPr id="28" name="A5f_text"/>
          <p:cNvSpPr txBox="1"/>
          <p:nvPr/>
        </p:nvSpPr>
        <p:spPr>
          <a:xfrm>
            <a:off x="3520440" y="3657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· сравнение · прогноз</a:t>
            </a:r>
            <a:endParaRPr lang="en-US" sz="1400" dirty="0"/>
          </a:p>
        </p:txBody>
      </p:sp>
      <p:sp>
        <p:nvSpPr>
          <p:cNvPr id="29" name="A6f_card"/>
          <p:cNvSpPr/>
          <p:nvPr/>
        </p:nvSpPr>
        <p:spPr>
          <a:xfrm>
            <a:off x="6126480" y="2743200"/>
            <a:ext cx="2560320" cy="1554480"/>
          </a:xfrm>
          <a:prstGeom prst="roundRect">
            <a:avLst>
              <a:gd name="adj" fmla="val 8235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30" name="A6z_circle"/>
          <p:cNvSpPr/>
          <p:nvPr/>
        </p:nvSpPr>
        <p:spPr>
          <a:xfrm>
            <a:off x="6309360" y="2926080"/>
            <a:ext cx="640080" cy="6400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1" name="A6z_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8582" y="3105302"/>
            <a:ext cx="281635" cy="281635"/>
          </a:xfrm>
          <a:prstGeom prst="rect">
            <a:avLst/>
          </a:prstGeom>
        </p:spPr>
      </p:pic>
      <p:sp>
        <p:nvSpPr>
          <p:cNvPr id="32" name="A6f_head"/>
          <p:cNvSpPr txBox="1"/>
          <p:nvPr/>
        </p:nvSpPr>
        <p:spPr>
          <a:xfrm>
            <a:off x="7086600" y="29260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</a:t>
            </a:r>
            <a:endParaRPr lang="en-US" sz="1900" dirty="0"/>
          </a:p>
        </p:txBody>
      </p:sp>
      <p:sp>
        <p:nvSpPr>
          <p:cNvPr id="33" name="A6f_text"/>
          <p:cNvSpPr txBox="1"/>
          <p:nvPr/>
        </p:nvSpPr>
        <p:spPr>
          <a:xfrm>
            <a:off x="6309360" y="3657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и проект</a:t>
            </a:r>
            <a:endParaRPr lang="en-US" sz="14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3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950"/>
                            </p:stCondLst>
                            <p:childTnLst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2600"/>
                            </p:stCondLst>
                            <p:childTnLst>
                              <p:par>
                                <p:cTn id="8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3250"/>
                            </p:stCondLst>
                            <p:childTnLst>
                              <p:par>
                                <p:cTn id="10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такое компьютер</a:t>
            </a:r>
            <a:endParaRPr lang="en-US" sz="3600" dirty="0"/>
          </a:p>
        </p:txBody>
      </p:sp>
      <p:sp>
        <p:nvSpPr>
          <p:cNvPr id="3" name="Num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A1f_def"/>
          <p:cNvSpPr txBox="1"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Устройство, которое принимает, хранит, обрабатывает и выдаёт информацию</a:t>
            </a:r>
            <a:endParaRPr lang="en-US" sz="1800" dirty="0"/>
          </a:p>
        </p:txBody>
      </p:sp>
      <p:sp>
        <p:nvSpPr>
          <p:cNvPr id="6" name="A2f_card"/>
          <p:cNvSpPr/>
          <p:nvPr/>
        </p:nvSpPr>
        <p:spPr>
          <a:xfrm>
            <a:off x="548640" y="1783080"/>
            <a:ext cx="1874520" cy="2651760"/>
          </a:xfrm>
          <a:prstGeom prst="roundRect">
            <a:avLst>
              <a:gd name="adj" fmla="val 6829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7" name="A2z_circle"/>
          <p:cNvSpPr/>
          <p:nvPr/>
        </p:nvSpPr>
        <p:spPr>
          <a:xfrm>
            <a:off x="1005840" y="2103120"/>
            <a:ext cx="960120" cy="9601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8" name="A2z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4" y="2371954"/>
            <a:ext cx="422453" cy="422453"/>
          </a:xfrm>
          <a:prstGeom prst="rect">
            <a:avLst/>
          </a:prstGeom>
        </p:spPr>
      </p:pic>
      <p:sp>
        <p:nvSpPr>
          <p:cNvPr id="9" name="A2f_head"/>
          <p:cNvSpPr txBox="1"/>
          <p:nvPr/>
        </p:nvSpPr>
        <p:spPr>
          <a:xfrm>
            <a:off x="640080" y="3291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Процессор</a:t>
            </a:r>
            <a:endParaRPr lang="en-US" sz="1900" dirty="0"/>
          </a:p>
        </p:txBody>
      </p:sp>
      <p:sp>
        <p:nvSpPr>
          <p:cNvPr id="10" name="A2f_text"/>
          <p:cNvSpPr txBox="1"/>
          <p:nvPr/>
        </p:nvSpPr>
        <p:spPr>
          <a:xfrm>
            <a:off x="685800" y="3749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«мозг» компьютера</a:t>
            </a:r>
            <a:endParaRPr lang="en-US" sz="1400" dirty="0"/>
          </a:p>
        </p:txBody>
      </p:sp>
      <p:sp>
        <p:nvSpPr>
          <p:cNvPr id="11" name="A3f_card"/>
          <p:cNvSpPr/>
          <p:nvPr/>
        </p:nvSpPr>
        <p:spPr>
          <a:xfrm>
            <a:off x="2606040" y="1783080"/>
            <a:ext cx="1874520" cy="2651760"/>
          </a:xfrm>
          <a:prstGeom prst="roundRect">
            <a:avLst>
              <a:gd name="adj" fmla="val 6829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12" name="A3z_circle"/>
          <p:cNvSpPr/>
          <p:nvPr/>
        </p:nvSpPr>
        <p:spPr>
          <a:xfrm>
            <a:off x="3063240" y="2103120"/>
            <a:ext cx="960120" cy="9601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3" name="A3z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2074" y="2371954"/>
            <a:ext cx="422453" cy="422453"/>
          </a:xfrm>
          <a:prstGeom prst="rect">
            <a:avLst/>
          </a:prstGeom>
        </p:spPr>
      </p:pic>
      <p:sp>
        <p:nvSpPr>
          <p:cNvPr id="14" name="A3f_head"/>
          <p:cNvSpPr txBox="1"/>
          <p:nvPr/>
        </p:nvSpPr>
        <p:spPr>
          <a:xfrm>
            <a:off x="2697480" y="3291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Память</a:t>
            </a:r>
            <a:endParaRPr lang="en-US" sz="1900" dirty="0"/>
          </a:p>
        </p:txBody>
      </p:sp>
      <p:sp>
        <p:nvSpPr>
          <p:cNvPr id="15" name="A3f_text"/>
          <p:cNvSpPr txBox="1"/>
          <p:nvPr/>
        </p:nvSpPr>
        <p:spPr>
          <a:xfrm>
            <a:off x="2743200" y="3749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хранит данные</a:t>
            </a:r>
            <a:endParaRPr lang="en-US" sz="1400" dirty="0"/>
          </a:p>
        </p:txBody>
      </p:sp>
      <p:sp>
        <p:nvSpPr>
          <p:cNvPr id="16" name="A4f_card"/>
          <p:cNvSpPr/>
          <p:nvPr/>
        </p:nvSpPr>
        <p:spPr>
          <a:xfrm>
            <a:off x="4663440" y="1783080"/>
            <a:ext cx="1874520" cy="2651760"/>
          </a:xfrm>
          <a:prstGeom prst="roundRect">
            <a:avLst>
              <a:gd name="adj" fmla="val 6829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17" name="A4z_circle"/>
          <p:cNvSpPr/>
          <p:nvPr/>
        </p:nvSpPr>
        <p:spPr>
          <a:xfrm>
            <a:off x="5120640" y="2103120"/>
            <a:ext cx="960120" cy="9601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8" name="A4z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9474" y="2371954"/>
            <a:ext cx="422453" cy="422453"/>
          </a:xfrm>
          <a:prstGeom prst="rect">
            <a:avLst/>
          </a:prstGeom>
        </p:spPr>
      </p:pic>
      <p:sp>
        <p:nvSpPr>
          <p:cNvPr id="19" name="A4f_head"/>
          <p:cNvSpPr txBox="1"/>
          <p:nvPr/>
        </p:nvSpPr>
        <p:spPr>
          <a:xfrm>
            <a:off x="4754880" y="3291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 и вывод</a:t>
            </a:r>
            <a:endParaRPr lang="en-US" sz="1900" dirty="0"/>
          </a:p>
        </p:txBody>
      </p:sp>
      <p:sp>
        <p:nvSpPr>
          <p:cNvPr id="20" name="A4f_text"/>
          <p:cNvSpPr txBox="1"/>
          <p:nvPr/>
        </p:nvSpPr>
        <p:spPr>
          <a:xfrm>
            <a:off x="4800600" y="3749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клавиатура, экран</a:t>
            </a:r>
            <a:endParaRPr lang="en-US" sz="1400" dirty="0"/>
          </a:p>
        </p:txBody>
      </p:sp>
      <p:sp>
        <p:nvSpPr>
          <p:cNvPr id="21" name="A5f_card"/>
          <p:cNvSpPr/>
          <p:nvPr/>
        </p:nvSpPr>
        <p:spPr>
          <a:xfrm>
            <a:off x="6720840" y="1783080"/>
            <a:ext cx="1874520" cy="2651760"/>
          </a:xfrm>
          <a:prstGeom prst="roundRect">
            <a:avLst>
              <a:gd name="adj" fmla="val 6829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22" name="A5z_circle"/>
          <p:cNvSpPr/>
          <p:nvPr/>
        </p:nvSpPr>
        <p:spPr>
          <a:xfrm>
            <a:off x="7178040" y="2103120"/>
            <a:ext cx="960120" cy="9601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3" name="A5z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6874" y="2371954"/>
            <a:ext cx="422453" cy="422453"/>
          </a:xfrm>
          <a:prstGeom prst="rect">
            <a:avLst/>
          </a:prstGeom>
        </p:spPr>
      </p:pic>
      <p:sp>
        <p:nvSpPr>
          <p:cNvPr id="24" name="A5f_head"/>
          <p:cNvSpPr txBox="1"/>
          <p:nvPr/>
        </p:nvSpPr>
        <p:spPr>
          <a:xfrm>
            <a:off x="6812280" y="3291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Программы</a:t>
            </a:r>
            <a:endParaRPr lang="en-US" sz="1900" dirty="0"/>
          </a:p>
        </p:txBody>
      </p:sp>
      <p:sp>
        <p:nvSpPr>
          <p:cNvPr id="25" name="A5f_text"/>
          <p:cNvSpPr txBox="1"/>
          <p:nvPr/>
        </p:nvSpPr>
        <p:spPr>
          <a:xfrm>
            <a:off x="6858000" y="3749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и приложения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3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95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600"/>
                            </p:stCondLst>
                            <p:childTnLst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 ламп к ИИ</a:t>
            </a:r>
            <a:endParaRPr lang="en-US" sz="3600" dirty="0"/>
          </a:p>
        </p:txBody>
      </p:sp>
      <p:sp>
        <p:nvSpPr>
          <p:cNvPr id="3" name="Num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A1w_line"/>
          <p:cNvSpPr/>
          <p:nvPr/>
        </p:nvSpPr>
        <p:spPr>
          <a:xfrm>
            <a:off x="731520" y="1828800"/>
            <a:ext cx="7680960" cy="54864"/>
          </a:xfrm>
          <a:prstGeom prst="rect">
            <a:avLst/>
          </a:prstGeom>
          <a:solidFill>
            <a:srgbClr val="A9B4DA">
              <a:alpha val="60000"/>
            </a:srgbClr>
          </a:solidFill>
          <a:ln w="12700">
            <a:solidFill>
              <a:srgbClr val="A9B4DA">
                <a:alpha val="60000"/>
              </a:srgbClr>
            </a:solidFill>
            <a:prstDash val="solid"/>
          </a:ln>
        </p:spPr>
      </p:sp>
      <p:sp>
        <p:nvSpPr>
          <p:cNvPr id="6" name="A2z_circle"/>
          <p:cNvSpPr/>
          <p:nvPr/>
        </p:nvSpPr>
        <p:spPr>
          <a:xfrm>
            <a:off x="822960" y="1371600"/>
            <a:ext cx="914400" cy="91440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7" name="A2z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1627632"/>
            <a:ext cx="402336" cy="402336"/>
          </a:xfrm>
          <a:prstGeom prst="rect">
            <a:avLst/>
          </a:prstGeom>
        </p:spPr>
      </p:pic>
      <p:sp>
        <p:nvSpPr>
          <p:cNvPr id="8" name="A2f_year"/>
          <p:cNvSpPr txBox="1"/>
          <p:nvPr/>
        </p:nvSpPr>
        <p:spPr>
          <a:xfrm>
            <a:off x="411480" y="2514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1940-е</a:t>
            </a:r>
            <a:endParaRPr lang="en-US" sz="2000" dirty="0"/>
          </a:p>
        </p:txBody>
      </p:sp>
      <p:sp>
        <p:nvSpPr>
          <p:cNvPr id="9" name="A2f_name"/>
          <p:cNvSpPr txBox="1"/>
          <p:nvPr/>
        </p:nvSpPr>
        <p:spPr>
          <a:xfrm>
            <a:off x="411480" y="29718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Лампы</a:t>
            </a:r>
            <a:endParaRPr lang="en-US" sz="1800" dirty="0"/>
          </a:p>
        </p:txBody>
      </p:sp>
      <p:sp>
        <p:nvSpPr>
          <p:cNvPr id="10" name="A2f_cap"/>
          <p:cNvSpPr txBox="1"/>
          <p:nvPr/>
        </p:nvSpPr>
        <p:spPr>
          <a:xfrm>
            <a:off x="502920" y="3429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тонн</a:t>
            </a:r>
            <a:endParaRPr lang="en-US" sz="1400" dirty="0"/>
          </a:p>
        </p:txBody>
      </p:sp>
      <p:sp>
        <p:nvSpPr>
          <p:cNvPr id="11" name="A3z_circle"/>
          <p:cNvSpPr/>
          <p:nvPr/>
        </p:nvSpPr>
        <p:spPr>
          <a:xfrm>
            <a:off x="2487168" y="1371600"/>
            <a:ext cx="914400" cy="91440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2" name="A3z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627632"/>
            <a:ext cx="402336" cy="402336"/>
          </a:xfrm>
          <a:prstGeom prst="rect">
            <a:avLst/>
          </a:prstGeom>
        </p:spPr>
      </p:pic>
      <p:sp>
        <p:nvSpPr>
          <p:cNvPr id="13" name="A3f_year"/>
          <p:cNvSpPr txBox="1"/>
          <p:nvPr/>
        </p:nvSpPr>
        <p:spPr>
          <a:xfrm>
            <a:off x="2075688" y="2514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1950-е</a:t>
            </a:r>
            <a:endParaRPr lang="en-US" sz="2000" dirty="0"/>
          </a:p>
        </p:txBody>
      </p:sp>
      <p:sp>
        <p:nvSpPr>
          <p:cNvPr id="14" name="A3f_name"/>
          <p:cNvSpPr txBox="1"/>
          <p:nvPr/>
        </p:nvSpPr>
        <p:spPr>
          <a:xfrm>
            <a:off x="2075688" y="29718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Транзисторы</a:t>
            </a:r>
            <a:endParaRPr lang="en-US" sz="1800" dirty="0"/>
          </a:p>
        </p:txBody>
      </p:sp>
      <p:sp>
        <p:nvSpPr>
          <p:cNvPr id="15" name="A3f_cap"/>
          <p:cNvSpPr txBox="1"/>
          <p:nvPr/>
        </p:nvSpPr>
        <p:spPr>
          <a:xfrm>
            <a:off x="2167128" y="3429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меньше и быстрее</a:t>
            </a:r>
            <a:endParaRPr lang="en-US" sz="1400" dirty="0"/>
          </a:p>
        </p:txBody>
      </p:sp>
      <p:sp>
        <p:nvSpPr>
          <p:cNvPr id="16" name="A4z_circle"/>
          <p:cNvSpPr/>
          <p:nvPr/>
        </p:nvSpPr>
        <p:spPr>
          <a:xfrm>
            <a:off x="4151376" y="1371600"/>
            <a:ext cx="914400" cy="91440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7" name="A4z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7408" y="1627632"/>
            <a:ext cx="402336" cy="402336"/>
          </a:xfrm>
          <a:prstGeom prst="rect">
            <a:avLst/>
          </a:prstGeom>
        </p:spPr>
      </p:pic>
      <p:sp>
        <p:nvSpPr>
          <p:cNvPr id="18" name="A4f_year"/>
          <p:cNvSpPr txBox="1"/>
          <p:nvPr/>
        </p:nvSpPr>
        <p:spPr>
          <a:xfrm>
            <a:off x="3739896" y="2514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1960-е</a:t>
            </a:r>
            <a:endParaRPr lang="en-US" sz="2000" dirty="0"/>
          </a:p>
        </p:txBody>
      </p:sp>
      <p:sp>
        <p:nvSpPr>
          <p:cNvPr id="19" name="A4f_name"/>
          <p:cNvSpPr txBox="1"/>
          <p:nvPr/>
        </p:nvSpPr>
        <p:spPr>
          <a:xfrm>
            <a:off x="3739896" y="29718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Микросхемы</a:t>
            </a:r>
            <a:endParaRPr lang="en-US" sz="1800" dirty="0"/>
          </a:p>
        </p:txBody>
      </p:sp>
      <p:sp>
        <p:nvSpPr>
          <p:cNvPr id="20" name="A4f_cap"/>
          <p:cNvSpPr txBox="1"/>
          <p:nvPr/>
        </p:nvSpPr>
        <p:spPr>
          <a:xfrm>
            <a:off x="3831336" y="3429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сотни элементов</a:t>
            </a:r>
            <a:endParaRPr lang="en-US" sz="1400" dirty="0"/>
          </a:p>
        </p:txBody>
      </p:sp>
      <p:sp>
        <p:nvSpPr>
          <p:cNvPr id="21" name="A5z_circle"/>
          <p:cNvSpPr/>
          <p:nvPr/>
        </p:nvSpPr>
        <p:spPr>
          <a:xfrm>
            <a:off x="5815584" y="1371600"/>
            <a:ext cx="914400" cy="91440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22" name="A5z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1616" y="1627632"/>
            <a:ext cx="402336" cy="402336"/>
          </a:xfrm>
          <a:prstGeom prst="rect">
            <a:avLst/>
          </a:prstGeom>
        </p:spPr>
      </p:pic>
      <p:sp>
        <p:nvSpPr>
          <p:cNvPr id="23" name="A5f_year"/>
          <p:cNvSpPr txBox="1"/>
          <p:nvPr/>
        </p:nvSpPr>
        <p:spPr>
          <a:xfrm>
            <a:off x="5404104" y="2514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1970-е</a:t>
            </a:r>
            <a:endParaRPr lang="en-US" sz="2000" dirty="0"/>
          </a:p>
        </p:txBody>
      </p:sp>
      <p:sp>
        <p:nvSpPr>
          <p:cNvPr id="24" name="A5f_name"/>
          <p:cNvSpPr txBox="1"/>
          <p:nvPr/>
        </p:nvSpPr>
        <p:spPr>
          <a:xfrm>
            <a:off x="5404104" y="29718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Процессор</a:t>
            </a:r>
            <a:endParaRPr lang="en-US" sz="1800" dirty="0"/>
          </a:p>
        </p:txBody>
      </p:sp>
      <p:sp>
        <p:nvSpPr>
          <p:cNvPr id="25" name="A5f_cap"/>
          <p:cNvSpPr txBox="1"/>
          <p:nvPr/>
        </p:nvSpPr>
        <p:spPr>
          <a:xfrm>
            <a:off x="5495544" y="3429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ПК для всех</a:t>
            </a:r>
            <a:endParaRPr lang="en-US" sz="1400" dirty="0"/>
          </a:p>
        </p:txBody>
      </p:sp>
      <p:sp>
        <p:nvSpPr>
          <p:cNvPr id="26" name="A6z_circle"/>
          <p:cNvSpPr/>
          <p:nvPr/>
        </p:nvSpPr>
        <p:spPr>
          <a:xfrm>
            <a:off x="7479792" y="1371600"/>
            <a:ext cx="914400" cy="91440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7" name="A6z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5824" y="1627632"/>
            <a:ext cx="402336" cy="402336"/>
          </a:xfrm>
          <a:prstGeom prst="rect">
            <a:avLst/>
          </a:prstGeom>
        </p:spPr>
      </p:pic>
      <p:sp>
        <p:nvSpPr>
          <p:cNvPr id="28" name="A6f_year"/>
          <p:cNvSpPr txBox="1"/>
          <p:nvPr/>
        </p:nvSpPr>
        <p:spPr>
          <a:xfrm>
            <a:off x="7068312" y="2514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2020-е</a:t>
            </a:r>
            <a:endParaRPr lang="en-US" sz="2000" dirty="0"/>
          </a:p>
        </p:txBody>
      </p:sp>
      <p:sp>
        <p:nvSpPr>
          <p:cNvPr id="29" name="A6f_name"/>
          <p:cNvSpPr txBox="1"/>
          <p:nvPr/>
        </p:nvSpPr>
        <p:spPr>
          <a:xfrm>
            <a:off x="7068312" y="29718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</a:t>
            </a:r>
            <a:endParaRPr lang="en-US" sz="1800" dirty="0"/>
          </a:p>
        </p:txBody>
      </p:sp>
      <p:sp>
        <p:nvSpPr>
          <p:cNvPr id="30" name="A6f_cap"/>
          <p:cNvSpPr txBox="1"/>
          <p:nvPr/>
        </p:nvSpPr>
        <p:spPr>
          <a:xfrm>
            <a:off x="7159752" y="3429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умные системы</a:t>
            </a:r>
            <a:endParaRPr lang="en-US" sz="14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300"/>
                            </p:stCondLst>
                            <p:childTnLst>
                              <p:par>
                                <p:cTn id="2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950"/>
                            </p:stCondLst>
                            <p:childTnLst>
                              <p:par>
                                <p:cTn id="4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600"/>
                            </p:stCondLst>
                            <p:childTnLst>
                              <p:par>
                                <p:cTn id="6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3250"/>
                            </p:stCondLst>
                            <p:childTnLst>
                              <p:par>
                                <p:cTn id="8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Компьютер сегодня</a:t>
            </a:r>
            <a:endParaRPr lang="en-US" sz="3600" dirty="0"/>
          </a:p>
        </p:txBody>
      </p:sp>
      <p:sp>
        <p:nvSpPr>
          <p:cNvPr id="3" name="Num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A1f_card"/>
          <p:cNvSpPr/>
          <p:nvPr/>
        </p:nvSpPr>
        <p:spPr>
          <a:xfrm>
            <a:off x="548640" y="1280160"/>
            <a:ext cx="8046720" cy="1737360"/>
          </a:xfrm>
          <a:prstGeom prst="roundRect">
            <a:avLst>
              <a:gd name="adj" fmla="val 7368"/>
            </a:avLst>
          </a:prstGeom>
          <a:solidFill>
            <a:srgbClr val="1E2B6B"/>
          </a:solidFill>
          <a:ln w="12700">
            <a:solidFill>
              <a:srgbClr val="1E2B6B"/>
            </a:solidFill>
            <a:prstDash val="solid"/>
          </a:ln>
        </p:spPr>
      </p:sp>
      <p:sp>
        <p:nvSpPr>
          <p:cNvPr id="6" name="A2z_old"/>
          <p:cNvSpPr txBox="1"/>
          <p:nvPr/>
        </p:nvSpPr>
        <p:spPr>
          <a:xfrm>
            <a:off x="822960" y="14173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т</a:t>
            </a:r>
            <a:endParaRPr lang="en-US" sz="6000" dirty="0"/>
          </a:p>
        </p:txBody>
      </p:sp>
      <p:sp>
        <p:nvSpPr>
          <p:cNvPr id="7" name="A2f_oldcap"/>
          <p:cNvSpPr txBox="1"/>
          <p:nvPr/>
        </p:nvSpPr>
        <p:spPr>
          <a:xfrm>
            <a:off x="822960" y="2423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ENIAC, 1946</a:t>
            </a:r>
            <a:endParaRPr lang="en-US" sz="1600" dirty="0"/>
          </a:p>
        </p:txBody>
      </p:sp>
      <p:sp>
        <p:nvSpPr>
          <p:cNvPr id="8" name="A3z_circle"/>
          <p:cNvSpPr/>
          <p:nvPr/>
        </p:nvSpPr>
        <p:spPr>
          <a:xfrm>
            <a:off x="4160520" y="1645920"/>
            <a:ext cx="822960" cy="8229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9" name="A3z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1876349"/>
            <a:ext cx="362102" cy="362102"/>
          </a:xfrm>
          <a:prstGeom prst="rect">
            <a:avLst/>
          </a:prstGeom>
        </p:spPr>
      </p:pic>
      <p:sp>
        <p:nvSpPr>
          <p:cNvPr id="10" name="A4z_new"/>
          <p:cNvSpPr txBox="1"/>
          <p:nvPr/>
        </p:nvSpPr>
        <p:spPr>
          <a:xfrm>
            <a:off x="5577840" y="14173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 г</a:t>
            </a:r>
            <a:endParaRPr lang="en-US" sz="6000" dirty="0"/>
          </a:p>
        </p:txBody>
      </p:sp>
      <p:sp>
        <p:nvSpPr>
          <p:cNvPr id="11" name="A4f_newcap"/>
          <p:cNvSpPr txBox="1"/>
          <p:nvPr/>
        </p:nvSpPr>
        <p:spPr>
          <a:xfrm>
            <a:off x="5577840" y="2423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смартфон сегодня</a:t>
            </a:r>
            <a:endParaRPr lang="en-US" sz="1600" dirty="0"/>
          </a:p>
        </p:txBody>
      </p:sp>
      <p:sp>
        <p:nvSpPr>
          <p:cNvPr id="12" name="A5f_card"/>
          <p:cNvSpPr/>
          <p:nvPr/>
        </p:nvSpPr>
        <p:spPr>
          <a:xfrm>
            <a:off x="548640" y="3291840"/>
            <a:ext cx="2560320" cy="1188720"/>
          </a:xfrm>
          <a:prstGeom prst="roundRect">
            <a:avLst>
              <a:gd name="adj" fmla="val 10769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13" name="A5z_circle"/>
          <p:cNvSpPr/>
          <p:nvPr/>
        </p:nvSpPr>
        <p:spPr>
          <a:xfrm>
            <a:off x="777240" y="3520440"/>
            <a:ext cx="731520" cy="7315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4" name="A5z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66" y="3725266"/>
            <a:ext cx="321869" cy="321869"/>
          </a:xfrm>
          <a:prstGeom prst="rect">
            <a:avLst/>
          </a:prstGeom>
        </p:spPr>
      </p:pic>
      <p:sp>
        <p:nvSpPr>
          <p:cNvPr id="15" name="A5f_text"/>
          <p:cNvSpPr txBox="1"/>
          <p:nvPr/>
        </p:nvSpPr>
        <p:spPr>
          <a:xfrm>
            <a:off x="164592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Нанометры</a:t>
            </a:r>
            <a:endParaRPr lang="en-US" sz="1800" dirty="0"/>
          </a:p>
        </p:txBody>
      </p:sp>
      <p:sp>
        <p:nvSpPr>
          <p:cNvPr id="16" name="A6f_card"/>
          <p:cNvSpPr/>
          <p:nvPr/>
        </p:nvSpPr>
        <p:spPr>
          <a:xfrm>
            <a:off x="3337560" y="3291840"/>
            <a:ext cx="2560320" cy="1188720"/>
          </a:xfrm>
          <a:prstGeom prst="roundRect">
            <a:avLst>
              <a:gd name="adj" fmla="val 10769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17" name="A6z_circle"/>
          <p:cNvSpPr/>
          <p:nvPr/>
        </p:nvSpPr>
        <p:spPr>
          <a:xfrm>
            <a:off x="3566160" y="3520440"/>
            <a:ext cx="731520" cy="7315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8" name="A6z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986" y="3725266"/>
            <a:ext cx="321869" cy="321869"/>
          </a:xfrm>
          <a:prstGeom prst="rect">
            <a:avLst/>
          </a:prstGeom>
        </p:spPr>
      </p:pic>
      <p:sp>
        <p:nvSpPr>
          <p:cNvPr id="19" name="A6f_text"/>
          <p:cNvSpPr txBox="1"/>
          <p:nvPr/>
        </p:nvSpPr>
        <p:spPr>
          <a:xfrm>
            <a:off x="443484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в кармане</a:t>
            </a:r>
            <a:endParaRPr lang="en-US" sz="1800" dirty="0"/>
          </a:p>
        </p:txBody>
      </p:sp>
      <p:sp>
        <p:nvSpPr>
          <p:cNvPr id="20" name="A7f_card"/>
          <p:cNvSpPr/>
          <p:nvPr/>
        </p:nvSpPr>
        <p:spPr>
          <a:xfrm>
            <a:off x="6126480" y="3291840"/>
            <a:ext cx="2560320" cy="1188720"/>
          </a:xfrm>
          <a:prstGeom prst="roundRect">
            <a:avLst>
              <a:gd name="adj" fmla="val 10769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21" name="A7z_circle"/>
          <p:cNvSpPr/>
          <p:nvPr/>
        </p:nvSpPr>
        <p:spPr>
          <a:xfrm>
            <a:off x="6355080" y="3520440"/>
            <a:ext cx="731520" cy="7315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22" name="A7z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9906" y="3725266"/>
            <a:ext cx="321869" cy="321869"/>
          </a:xfrm>
          <a:prstGeom prst="rect">
            <a:avLst/>
          </a:prstGeom>
        </p:spPr>
      </p:pic>
      <p:sp>
        <p:nvSpPr>
          <p:cNvPr id="23" name="A7f_text"/>
          <p:cNvSpPr txBox="1"/>
          <p:nvPr/>
        </p:nvSpPr>
        <p:spPr>
          <a:xfrm>
            <a:off x="722376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Облако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950"/>
                            </p:stCondLst>
                            <p:childTnLst>
                              <p:par>
                                <p:cTn id="2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6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25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3900"/>
                            </p:stCondLst>
                            <p:childTnLst>
                              <p:par>
                                <p:cTn id="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Технологии будущего</a:t>
            </a:r>
            <a:endParaRPr lang="en-US" sz="3600" dirty="0"/>
          </a:p>
        </p:txBody>
      </p:sp>
      <p:sp>
        <p:nvSpPr>
          <p:cNvPr id="3" name="Num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A1f_card"/>
          <p:cNvSpPr/>
          <p:nvPr/>
        </p:nvSpPr>
        <p:spPr>
          <a:xfrm>
            <a:off x="548640" y="1325880"/>
            <a:ext cx="3931920" cy="1508760"/>
          </a:xfrm>
          <a:prstGeom prst="roundRect">
            <a:avLst>
              <a:gd name="adj" fmla="val 8485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6" name="A1z_circle"/>
          <p:cNvSpPr/>
          <p:nvPr/>
        </p:nvSpPr>
        <p:spPr>
          <a:xfrm>
            <a:off x="822960" y="1645920"/>
            <a:ext cx="868680" cy="86868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7" name="A1z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" y="1889150"/>
            <a:ext cx="382219" cy="382219"/>
          </a:xfrm>
          <a:prstGeom prst="rect">
            <a:avLst/>
          </a:prstGeom>
        </p:spPr>
      </p:pic>
      <p:sp>
        <p:nvSpPr>
          <p:cNvPr id="8" name="A1f_head"/>
          <p:cNvSpPr txBox="1"/>
          <p:nvPr/>
        </p:nvSpPr>
        <p:spPr>
          <a:xfrm>
            <a:off x="1920240" y="1600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Квантовые</a:t>
            </a:r>
            <a:endParaRPr lang="en-US" sz="2000" dirty="0"/>
          </a:p>
        </p:txBody>
      </p:sp>
      <p:sp>
        <p:nvSpPr>
          <p:cNvPr id="9" name="A1f_text"/>
          <p:cNvSpPr txBox="1"/>
          <p:nvPr/>
        </p:nvSpPr>
        <p:spPr>
          <a:xfrm>
            <a:off x="192024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кубиты и сверхбыстрые расчёты</a:t>
            </a:r>
            <a:endParaRPr lang="en-US" sz="1500" dirty="0"/>
          </a:p>
        </p:txBody>
      </p:sp>
      <p:sp>
        <p:nvSpPr>
          <p:cNvPr id="10" name="A2f_card"/>
          <p:cNvSpPr/>
          <p:nvPr/>
        </p:nvSpPr>
        <p:spPr>
          <a:xfrm>
            <a:off x="4663440" y="1325880"/>
            <a:ext cx="3931920" cy="1508760"/>
          </a:xfrm>
          <a:prstGeom prst="roundRect">
            <a:avLst>
              <a:gd name="adj" fmla="val 8485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11" name="A2z_circle"/>
          <p:cNvSpPr/>
          <p:nvPr/>
        </p:nvSpPr>
        <p:spPr>
          <a:xfrm>
            <a:off x="4937760" y="1645920"/>
            <a:ext cx="868680" cy="8686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2" name="A2z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990" y="1889150"/>
            <a:ext cx="382219" cy="382219"/>
          </a:xfrm>
          <a:prstGeom prst="rect">
            <a:avLst/>
          </a:prstGeom>
        </p:spPr>
      </p:pic>
      <p:sp>
        <p:nvSpPr>
          <p:cNvPr id="13" name="A2f_head"/>
          <p:cNvSpPr txBox="1"/>
          <p:nvPr/>
        </p:nvSpPr>
        <p:spPr>
          <a:xfrm>
            <a:off x="6035040" y="1600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</a:t>
            </a:r>
            <a:endParaRPr lang="en-US" sz="2000" dirty="0"/>
          </a:p>
        </p:txBody>
      </p:sp>
      <p:sp>
        <p:nvSpPr>
          <p:cNvPr id="14" name="A2f_text"/>
          <p:cNvSpPr txBox="1"/>
          <p:nvPr/>
        </p:nvSpPr>
        <p:spPr>
          <a:xfrm>
            <a:off x="603504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во всём</a:t>
            </a:r>
            <a:endParaRPr lang="en-US" sz="1500" dirty="0"/>
          </a:p>
        </p:txBody>
      </p:sp>
      <p:sp>
        <p:nvSpPr>
          <p:cNvPr id="15" name="A3f_card"/>
          <p:cNvSpPr/>
          <p:nvPr/>
        </p:nvSpPr>
        <p:spPr>
          <a:xfrm>
            <a:off x="548640" y="3017520"/>
            <a:ext cx="3931920" cy="1508760"/>
          </a:xfrm>
          <a:prstGeom prst="roundRect">
            <a:avLst>
              <a:gd name="adj" fmla="val 8485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16" name="A3z_circle"/>
          <p:cNvSpPr/>
          <p:nvPr/>
        </p:nvSpPr>
        <p:spPr>
          <a:xfrm>
            <a:off x="822960" y="3337560"/>
            <a:ext cx="868680" cy="8686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7" name="A3z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190" y="3580790"/>
            <a:ext cx="382219" cy="382219"/>
          </a:xfrm>
          <a:prstGeom prst="rect">
            <a:avLst/>
          </a:prstGeom>
        </p:spPr>
      </p:pic>
      <p:sp>
        <p:nvSpPr>
          <p:cNvPr id="18" name="A3f_head"/>
          <p:cNvSpPr txBox="1"/>
          <p:nvPr/>
        </p:nvSpPr>
        <p:spPr>
          <a:xfrm>
            <a:off x="1920240" y="3291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Фотонные чипы</a:t>
            </a:r>
            <a:endParaRPr lang="en-US" sz="2000" dirty="0"/>
          </a:p>
        </p:txBody>
      </p:sp>
      <p:sp>
        <p:nvSpPr>
          <p:cNvPr id="19" name="A3f_text"/>
          <p:cNvSpPr txBox="1"/>
          <p:nvPr/>
        </p:nvSpPr>
        <p:spPr>
          <a:xfrm>
            <a:off x="1920240" y="37947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свет вместо тока</a:t>
            </a:r>
            <a:endParaRPr lang="en-US" sz="1500" dirty="0"/>
          </a:p>
        </p:txBody>
      </p:sp>
      <p:sp>
        <p:nvSpPr>
          <p:cNvPr id="20" name="A4f_card"/>
          <p:cNvSpPr/>
          <p:nvPr/>
        </p:nvSpPr>
        <p:spPr>
          <a:xfrm>
            <a:off x="4663440" y="3017520"/>
            <a:ext cx="3931920" cy="1508760"/>
          </a:xfrm>
          <a:prstGeom prst="roundRect">
            <a:avLst>
              <a:gd name="adj" fmla="val 8485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21" name="A4z_circle"/>
          <p:cNvSpPr/>
          <p:nvPr/>
        </p:nvSpPr>
        <p:spPr>
          <a:xfrm>
            <a:off x="4937760" y="3337560"/>
            <a:ext cx="868680" cy="86868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22" name="A4z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0990" y="3580790"/>
            <a:ext cx="382219" cy="382219"/>
          </a:xfrm>
          <a:prstGeom prst="rect">
            <a:avLst/>
          </a:prstGeom>
        </p:spPr>
      </p:pic>
      <p:sp>
        <p:nvSpPr>
          <p:cNvPr id="23" name="A4f_head"/>
          <p:cNvSpPr txBox="1"/>
          <p:nvPr/>
        </p:nvSpPr>
        <p:spPr>
          <a:xfrm>
            <a:off x="6035040" y="3291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Интернет вещей и AR</a:t>
            </a:r>
            <a:endParaRPr lang="en-US" sz="2000" dirty="0"/>
          </a:p>
        </p:txBody>
      </p:sp>
      <p:sp>
        <p:nvSpPr>
          <p:cNvPr id="24" name="A4f_text"/>
          <p:cNvSpPr txBox="1"/>
          <p:nvPr/>
        </p:nvSpPr>
        <p:spPr>
          <a:xfrm>
            <a:off x="6035040" y="37947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умный дом, умные очки</a:t>
            </a:r>
            <a:endParaRPr lang="en-US" sz="15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3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950"/>
                            </p:stCondLst>
                            <p:childTnLst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Перспективы</a:t>
            </a:r>
            <a:endParaRPr lang="en-US" sz="3600" dirty="0"/>
          </a:p>
        </p:txBody>
      </p:sp>
      <p:sp>
        <p:nvSpPr>
          <p:cNvPr id="3" name="Num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A1f_card"/>
          <p:cNvSpPr/>
          <p:nvPr/>
        </p:nvSpPr>
        <p:spPr>
          <a:xfrm>
            <a:off x="548640" y="1234440"/>
            <a:ext cx="4206240" cy="3291840"/>
          </a:xfrm>
          <a:prstGeom prst="roundRect">
            <a:avLst>
              <a:gd name="adj" fmla="val 3889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pic>
        <p:nvPicPr>
          <p:cNvPr id="6" name="A2f_char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3840480" cy="3017520"/>
          </a:xfrm>
          <a:prstGeom prst="rect">
            <a:avLst/>
          </a:prstGeom>
        </p:spPr>
      </p:pic>
      <p:sp>
        <p:nvSpPr>
          <p:cNvPr id="7" name="A3f_card"/>
          <p:cNvSpPr/>
          <p:nvPr/>
        </p:nvSpPr>
        <p:spPr>
          <a:xfrm>
            <a:off x="4937760" y="1234440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8" name="A3z_circle"/>
          <p:cNvSpPr/>
          <p:nvPr/>
        </p:nvSpPr>
        <p:spPr>
          <a:xfrm>
            <a:off x="5120640" y="1417320"/>
            <a:ext cx="640080" cy="6400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9" name="A3z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9862" y="1596542"/>
            <a:ext cx="281635" cy="281635"/>
          </a:xfrm>
          <a:prstGeom prst="rect">
            <a:avLst/>
          </a:prstGeom>
        </p:spPr>
      </p:pic>
      <p:sp>
        <p:nvSpPr>
          <p:cNvPr id="10" name="A3f_text"/>
          <p:cNvSpPr txBox="1"/>
          <p:nvPr/>
        </p:nvSpPr>
        <p:spPr>
          <a:xfrm>
            <a:off x="5943600" y="123444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в каждом устройстве</a:t>
            </a:r>
            <a:endParaRPr lang="en-US" sz="1800" dirty="0"/>
          </a:p>
        </p:txBody>
      </p:sp>
      <p:sp>
        <p:nvSpPr>
          <p:cNvPr id="11" name="A4f_card"/>
          <p:cNvSpPr/>
          <p:nvPr/>
        </p:nvSpPr>
        <p:spPr>
          <a:xfrm>
            <a:off x="4937760" y="2377440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12" name="A4z_circle"/>
          <p:cNvSpPr/>
          <p:nvPr/>
        </p:nvSpPr>
        <p:spPr>
          <a:xfrm>
            <a:off x="5120640" y="2560320"/>
            <a:ext cx="640080" cy="64008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3" name="A4z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9862" y="2739542"/>
            <a:ext cx="281635" cy="281635"/>
          </a:xfrm>
          <a:prstGeom prst="rect">
            <a:avLst/>
          </a:prstGeom>
        </p:spPr>
      </p:pic>
      <p:sp>
        <p:nvSpPr>
          <p:cNvPr id="14" name="A4f_text"/>
          <p:cNvSpPr txBox="1"/>
          <p:nvPr/>
        </p:nvSpPr>
        <p:spPr>
          <a:xfrm>
            <a:off x="5943600" y="237744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Квантовые ускорители</a:t>
            </a:r>
            <a:endParaRPr lang="en-US" sz="1800" dirty="0"/>
          </a:p>
        </p:txBody>
      </p:sp>
      <p:sp>
        <p:nvSpPr>
          <p:cNvPr id="15" name="A5f_card"/>
          <p:cNvSpPr/>
          <p:nvPr/>
        </p:nvSpPr>
        <p:spPr>
          <a:xfrm>
            <a:off x="4937760" y="3520440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16" name="A5z_circle"/>
          <p:cNvSpPr/>
          <p:nvPr/>
        </p:nvSpPr>
        <p:spPr>
          <a:xfrm>
            <a:off x="5120640" y="3703320"/>
            <a:ext cx="640080" cy="6400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7" name="A5z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9862" y="3882542"/>
            <a:ext cx="281635" cy="281635"/>
          </a:xfrm>
          <a:prstGeom prst="rect">
            <a:avLst/>
          </a:prstGeom>
        </p:spPr>
      </p:pic>
      <p:sp>
        <p:nvSpPr>
          <p:cNvPr id="18" name="A5f_text"/>
          <p:cNvSpPr txBox="1"/>
          <p:nvPr/>
        </p:nvSpPr>
        <p:spPr>
          <a:xfrm>
            <a:off x="5943600" y="352044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Меньше энергии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95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6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Возможности и риски</a:t>
            </a:r>
            <a:endParaRPr lang="en-US" sz="3600" dirty="0"/>
          </a:p>
        </p:txBody>
      </p:sp>
      <p:sp>
        <p:nvSpPr>
          <p:cNvPr id="3" name="Num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A1f_card"/>
          <p:cNvSpPr/>
          <p:nvPr/>
        </p:nvSpPr>
        <p:spPr>
          <a:xfrm>
            <a:off x="548640" y="1234440"/>
            <a:ext cx="3931920" cy="3337560"/>
          </a:xfrm>
          <a:prstGeom prst="roundRect">
            <a:avLst>
              <a:gd name="adj" fmla="val 3836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6" name="A1f_card"/>
          <p:cNvSpPr/>
          <p:nvPr/>
        </p:nvSpPr>
        <p:spPr>
          <a:xfrm>
            <a:off x="4663440" y="1234440"/>
            <a:ext cx="3931920" cy="3337560"/>
          </a:xfrm>
          <a:prstGeom prst="roundRect">
            <a:avLst>
              <a:gd name="adj" fmla="val 3836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7" name="A1f_h1"/>
          <p:cNvSpPr txBox="1"/>
          <p:nvPr/>
        </p:nvSpPr>
        <p:spPr>
          <a:xfrm>
            <a:off x="822960" y="1371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Возможности</a:t>
            </a:r>
            <a:endParaRPr lang="en-US" sz="2200" dirty="0"/>
          </a:p>
        </p:txBody>
      </p:sp>
      <p:sp>
        <p:nvSpPr>
          <p:cNvPr id="8" name="A1f_h2"/>
          <p:cNvSpPr txBox="1"/>
          <p:nvPr/>
        </p:nvSpPr>
        <p:spPr>
          <a:xfrm>
            <a:off x="4937760" y="1371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2200" dirty="0"/>
          </a:p>
        </p:txBody>
      </p:sp>
      <p:sp>
        <p:nvSpPr>
          <p:cNvPr id="9" name="A2z_circle"/>
          <p:cNvSpPr/>
          <p:nvPr/>
        </p:nvSpPr>
        <p:spPr>
          <a:xfrm>
            <a:off x="822960" y="1965960"/>
            <a:ext cx="502920" cy="5029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0" name="A2z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778" y="2106778"/>
            <a:ext cx="221285" cy="221285"/>
          </a:xfrm>
          <a:prstGeom prst="rect">
            <a:avLst/>
          </a:prstGeom>
        </p:spPr>
      </p:pic>
      <p:sp>
        <p:nvSpPr>
          <p:cNvPr id="11" name="A2f_pro"/>
          <p:cNvSpPr txBox="1"/>
          <p:nvPr/>
        </p:nvSpPr>
        <p:spPr>
          <a:xfrm>
            <a:off x="150876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Медицина</a:t>
            </a:r>
            <a:endParaRPr lang="en-US" sz="1800" dirty="0"/>
          </a:p>
        </p:txBody>
      </p:sp>
      <p:sp>
        <p:nvSpPr>
          <p:cNvPr id="12" name="A2z_circle"/>
          <p:cNvSpPr/>
          <p:nvPr/>
        </p:nvSpPr>
        <p:spPr>
          <a:xfrm>
            <a:off x="4937760" y="196596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3" name="A2z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8578" y="2106778"/>
            <a:ext cx="221285" cy="221285"/>
          </a:xfrm>
          <a:prstGeom prst="rect">
            <a:avLst/>
          </a:prstGeom>
        </p:spPr>
      </p:pic>
      <p:sp>
        <p:nvSpPr>
          <p:cNvPr id="14" name="A2f_con"/>
          <p:cNvSpPr txBox="1"/>
          <p:nvPr/>
        </p:nvSpPr>
        <p:spPr>
          <a:xfrm>
            <a:off x="562356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</a:t>
            </a:r>
            <a:endParaRPr lang="en-US" sz="1800" dirty="0"/>
          </a:p>
        </p:txBody>
      </p:sp>
      <p:sp>
        <p:nvSpPr>
          <p:cNvPr id="15" name="A3z_circle"/>
          <p:cNvSpPr/>
          <p:nvPr/>
        </p:nvSpPr>
        <p:spPr>
          <a:xfrm>
            <a:off x="822960" y="2606040"/>
            <a:ext cx="502920" cy="5029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6" name="A3z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8" y="2746858"/>
            <a:ext cx="221285" cy="221285"/>
          </a:xfrm>
          <a:prstGeom prst="rect">
            <a:avLst/>
          </a:prstGeom>
        </p:spPr>
      </p:pic>
      <p:sp>
        <p:nvSpPr>
          <p:cNvPr id="17" name="A3f_pro"/>
          <p:cNvSpPr txBox="1"/>
          <p:nvPr/>
        </p:nvSpPr>
        <p:spPr>
          <a:xfrm>
            <a:off x="1508760" y="26060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Наука</a:t>
            </a:r>
            <a:endParaRPr lang="en-US" sz="1800" dirty="0"/>
          </a:p>
        </p:txBody>
      </p:sp>
      <p:sp>
        <p:nvSpPr>
          <p:cNvPr id="18" name="A3z_circle"/>
          <p:cNvSpPr/>
          <p:nvPr/>
        </p:nvSpPr>
        <p:spPr>
          <a:xfrm>
            <a:off x="4937760" y="260604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9" name="A3z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8578" y="2746858"/>
            <a:ext cx="221285" cy="221285"/>
          </a:xfrm>
          <a:prstGeom prst="rect">
            <a:avLst/>
          </a:prstGeom>
        </p:spPr>
      </p:pic>
      <p:sp>
        <p:nvSpPr>
          <p:cNvPr id="20" name="A3f_con"/>
          <p:cNvSpPr txBox="1"/>
          <p:nvPr/>
        </p:nvSpPr>
        <p:spPr>
          <a:xfrm>
            <a:off x="5623560" y="26060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Зависимость</a:t>
            </a:r>
            <a:endParaRPr lang="en-US" sz="1800" dirty="0"/>
          </a:p>
        </p:txBody>
      </p:sp>
      <p:sp>
        <p:nvSpPr>
          <p:cNvPr id="21" name="A4z_circle"/>
          <p:cNvSpPr/>
          <p:nvPr/>
        </p:nvSpPr>
        <p:spPr>
          <a:xfrm>
            <a:off x="822960" y="3246120"/>
            <a:ext cx="502920" cy="5029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22" name="A4z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778" y="3386938"/>
            <a:ext cx="221285" cy="221285"/>
          </a:xfrm>
          <a:prstGeom prst="rect">
            <a:avLst/>
          </a:prstGeom>
        </p:spPr>
      </p:pic>
      <p:sp>
        <p:nvSpPr>
          <p:cNvPr id="23" name="A4f_pro"/>
          <p:cNvSpPr txBox="1"/>
          <p:nvPr/>
        </p:nvSpPr>
        <p:spPr>
          <a:xfrm>
            <a:off x="1508760" y="3246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Транспорт</a:t>
            </a:r>
            <a:endParaRPr lang="en-US" sz="1800" dirty="0"/>
          </a:p>
        </p:txBody>
      </p:sp>
      <p:sp>
        <p:nvSpPr>
          <p:cNvPr id="24" name="A4z_circle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5" name="A4z_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78578" y="3386938"/>
            <a:ext cx="221285" cy="221285"/>
          </a:xfrm>
          <a:prstGeom prst="rect">
            <a:avLst/>
          </a:prstGeom>
        </p:spPr>
      </p:pic>
      <p:sp>
        <p:nvSpPr>
          <p:cNvPr id="26" name="A4f_con"/>
          <p:cNvSpPr txBox="1"/>
          <p:nvPr/>
        </p:nvSpPr>
        <p:spPr>
          <a:xfrm>
            <a:off x="5623560" y="3246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Профессии</a:t>
            </a:r>
            <a:endParaRPr lang="en-US" sz="1800" dirty="0"/>
          </a:p>
        </p:txBody>
      </p:sp>
      <p:sp>
        <p:nvSpPr>
          <p:cNvPr id="27" name="A5z_circle"/>
          <p:cNvSpPr/>
          <p:nvPr/>
        </p:nvSpPr>
        <p:spPr>
          <a:xfrm>
            <a:off x="822960" y="3886200"/>
            <a:ext cx="502920" cy="5029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28" name="A5z_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3778" y="4027018"/>
            <a:ext cx="221285" cy="221285"/>
          </a:xfrm>
          <a:prstGeom prst="rect">
            <a:avLst/>
          </a:prstGeom>
        </p:spPr>
      </p:pic>
      <p:sp>
        <p:nvSpPr>
          <p:cNvPr id="29" name="A5f_pro"/>
          <p:cNvSpPr txBox="1"/>
          <p:nvPr/>
        </p:nvSpPr>
        <p:spPr>
          <a:xfrm>
            <a:off x="1508760" y="3886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</a:t>
            </a:r>
            <a:endParaRPr lang="en-US" sz="1800" dirty="0"/>
          </a:p>
        </p:txBody>
      </p:sp>
      <p:sp>
        <p:nvSpPr>
          <p:cNvPr id="30" name="A5z_circle"/>
          <p:cNvSpPr/>
          <p:nvPr/>
        </p:nvSpPr>
        <p:spPr>
          <a:xfrm>
            <a:off x="4937760" y="388620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1" name="A5z_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78578" y="4027018"/>
            <a:ext cx="221285" cy="221285"/>
          </a:xfrm>
          <a:prstGeom prst="rect">
            <a:avLst/>
          </a:prstGeom>
        </p:spPr>
      </p:pic>
      <p:sp>
        <p:nvSpPr>
          <p:cNvPr id="32" name="A5f_con"/>
          <p:cNvSpPr txBox="1"/>
          <p:nvPr/>
        </p:nvSpPr>
        <p:spPr>
          <a:xfrm>
            <a:off x="5623560" y="3886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Энергия</a:t>
            </a:r>
            <a:endParaRPr lang="en-US" sz="18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300"/>
                            </p:stCondLst>
                            <p:childTnLst>
                              <p:par>
                                <p:cTn id="4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950"/>
                            </p:stCondLst>
                            <p:childTnLst>
                              <p:par>
                                <p:cTn id="7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600"/>
                            </p:stCondLst>
                            <p:childTnLst>
                              <p:par>
                                <p:cTn id="9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Выводы</a:t>
            </a:r>
            <a:endParaRPr lang="en-US" sz="3600" dirty="0"/>
          </a:p>
        </p:txBody>
      </p:sp>
      <p:sp>
        <p:nvSpPr>
          <p:cNvPr id="3" name="Num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A1z_num"/>
          <p:cNvSpPr/>
          <p:nvPr/>
        </p:nvSpPr>
        <p:spPr>
          <a:xfrm>
            <a:off x="548640" y="1280160"/>
            <a:ext cx="685800" cy="68580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6" name="A1z_numt"/>
          <p:cNvSpPr txBox="1"/>
          <p:nvPr/>
        </p:nvSpPr>
        <p:spPr>
          <a:xfrm>
            <a:off x="548640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1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A1w_text"/>
          <p:cNvSpPr txBox="1"/>
          <p:nvPr/>
        </p:nvSpPr>
        <p:spPr>
          <a:xfrm>
            <a:off x="1508760" y="128016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Компьютер — везде</a:t>
            </a:r>
            <a:endParaRPr lang="en-US" sz="2600" dirty="0"/>
          </a:p>
        </p:txBody>
      </p:sp>
      <p:sp>
        <p:nvSpPr>
          <p:cNvPr id="8" name="A2z_num"/>
          <p:cNvSpPr/>
          <p:nvPr/>
        </p:nvSpPr>
        <p:spPr>
          <a:xfrm>
            <a:off x="548640" y="2194560"/>
            <a:ext cx="685800" cy="68580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A2z_numt"/>
          <p:cNvSpPr txBox="1"/>
          <p:nvPr/>
        </p:nvSpPr>
        <p:spPr>
          <a:xfrm>
            <a:off x="548640" y="2194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1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A2w_text"/>
          <p:cNvSpPr txBox="1"/>
          <p:nvPr/>
        </p:nvSpPr>
        <p:spPr>
          <a:xfrm>
            <a:off x="1508760" y="219456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Будущее: ИИ + квантовые чипы</a:t>
            </a:r>
            <a:endParaRPr lang="en-US" sz="2600" dirty="0"/>
          </a:p>
        </p:txBody>
      </p:sp>
      <p:sp>
        <p:nvSpPr>
          <p:cNvPr id="11" name="A3z_num"/>
          <p:cNvSpPr/>
          <p:nvPr/>
        </p:nvSpPr>
        <p:spPr>
          <a:xfrm>
            <a:off x="548640" y="3108960"/>
            <a:ext cx="685800" cy="68580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A3z_numt"/>
          <p:cNvSpPr txBox="1"/>
          <p:nvPr/>
        </p:nvSpPr>
        <p:spPr>
          <a:xfrm>
            <a:off x="548640" y="3108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1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A3w_text"/>
          <p:cNvSpPr txBox="1"/>
          <p:nvPr/>
        </p:nvSpPr>
        <p:spPr>
          <a:xfrm>
            <a:off x="1508760" y="310896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Учиться и применять осознанно</a:t>
            </a:r>
            <a:endParaRPr lang="en-US" sz="2600" dirty="0"/>
          </a:p>
        </p:txBody>
      </p:sp>
      <p:sp>
        <p:nvSpPr>
          <p:cNvPr id="14" name="A4z_thanks"/>
          <p:cNvSpPr txBox="1"/>
          <p:nvPr/>
        </p:nvSpPr>
        <p:spPr>
          <a:xfrm>
            <a:off x="548640" y="4160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3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650"/>
                            </p:stCondLst>
                            <p:childTnLst>
                              <p:par>
                                <p:cTn id="1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300"/>
                            </p:stCondLst>
                            <p:childTnLst>
                              <p:par>
                                <p:cTn id="32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950"/>
                            </p:stCondLst>
                            <p:childTnLst>
                              <p:par>
                                <p:cTn id="46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Компьютер 21 века: перспективы</dc:title>
  <dc:subject>PptxGenJS Presentation</dc:subject>
  <dc:creator>Индивидуальный проект</dc:creator>
  <cp:lastModifiedBy>Индивидуальный проект</cp:lastModifiedBy>
  <cp:revision>1</cp:revision>
  <dcterms:created xsi:type="dcterms:W3CDTF">2026-10-13T06:31:06Z</dcterms:created>
  <dcterms:modified xsi:type="dcterms:W3CDTF">2026-10-13T06:31:06Z</dcterms:modified>
</cp:coreProperties>
</file>