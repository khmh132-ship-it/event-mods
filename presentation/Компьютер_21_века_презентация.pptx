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Моя тема — «Компьютер 21 века, перспективы». Я хочу рассказать, каким будет компьютер завтра и что это изменит для каждого из нас.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я выбрал эту тему? Компьютеры сегодня есть везде: в телефоне, в машине, на транспорте, в магазине. Технологии развиваются так быстро, что важно понимать, куда они движутся.
Цель моего проекта — выяснить, каким будет компьютер в 21 веке и какие у него перспективы.
Задачи: изучить историю компьютеров, описать современный компьютер, рассмотреть технологии будущего и оценить плюсы и риски.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Начнём с истории. Первые компьютеры появились в 1940-х годах. Например, ENIAC весил около 30 тонн и работал на 18 тысячах электронных ламп.
Затем лампы заменили транзисторы — компьютеры стали меньше, быстрее и надёжнее. Потом появились микросхемы, где на одном кристалле сотни элементов. В 1970-х изобрели микропроцессор, и благодаря ему появился персональный компьютер. А в 2020-х главными стали искусственный интеллект и облачные технологии.
Главный тренд: компьютеры постоянно уменьшаются и становятся мощнее.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Посмотрите на сравнение: ENIAC весил 30 тонн, а современный смартфон — около 200 граммов и при этом намного мощнее.
Элементы в современных процессорах измеряются нанометрами — в тысячи раз тоньше человеческого волоса. Нейросети работают прямо в телефонах и ноутбуках. А облачные сервисы дают мощность «по запросу»: сложный расчёт можно выполнить на сервере, а не на своём устройстве.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главное — технологии будущего. Их четыре.
Первое — квантовые компьютеры. Они работают на кубитах и могут решать особые задачи, например, моделировать новые материалы и лекарства. Но это не замена обычному компьютеру, а дополнение к нему.
Второе — искусственный интеллект. Это помощник в учёбе и работе, он понимает речь и изображения.
Третье — фотонные и нейроморфные чипы. Одни используют свет вместо электричества, другие работают по принципу мозга. Они быстрее и экономнее по энергии.
Четвёртое — интернет вещей и дополненная реальность: умный дом, умный транспорт, очки, которые показывают информацию прямо перед глазами.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новых технологий есть и плюсы, и минусы.
Возможности: в медицине — более точная диагностика; в науке — сложные расчёты за минуты; на транспорте — больше безопасности; образование становится доступнее.
Риски: утечки данных и кибератаки, зависимость от гаджетов, автоматизация, из-за которой часть профессий изменится, и рост энергопотребления дата-центров. Поэтому важно использовать технологии осознанно.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Какие выводы я сделал. Первое: компьютер стал частью всей нашей жизни, а не просто отдельной машиной на столе. Второе: главные направления развития — искусственный интеллект и квантовые, энергоэффективные чипы. Третье: выиграет тот, кто учится и применяет технологии осознанно.
Мой продукт — эта презентация. Дальше эту тему можно исследовать глубже, например, изучить, как ИИ повлияет на профессии на транспорте.
Спасибо за внимание!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1z_chi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868680"/>
            <a:ext cx="3291840" cy="3291840"/>
          </a:xfrm>
          <a:prstGeom prst="rect">
            <a:avLst/>
          </a:prstGeom>
        </p:spPr>
      </p:pic>
      <p:sp>
        <p:nvSpPr>
          <p:cNvPr id="4" name="A2f_label"/>
          <p:cNvSpPr txBox="1"/>
          <p:nvPr/>
        </p:nvSpPr>
        <p:spPr>
          <a:xfrm>
            <a:off x="548640" y="10058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ИНДИВИДУАЛЬНЫЙ ПРОЕКТ · ИНФОРМАТИКА</a:t>
            </a:r>
            <a:endParaRPr lang="en-US" sz="1200" dirty="0"/>
          </a:p>
        </p:txBody>
      </p:sp>
      <p:sp>
        <p:nvSpPr>
          <p:cNvPr id="5" name="A3w_title"/>
          <p:cNvSpPr txBox="1"/>
          <p:nvPr/>
        </p:nvSpPr>
        <p:spPr>
          <a:xfrm>
            <a:off x="548640" y="14173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Компьютер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века</a:t>
            </a:r>
            <a:endParaRPr lang="en-US" sz="4400" dirty="0"/>
          </a:p>
        </p:txBody>
      </p:sp>
      <p:sp>
        <p:nvSpPr>
          <p:cNvPr id="6" name="A4w_sub"/>
          <p:cNvSpPr txBox="1"/>
          <p:nvPr/>
        </p:nvSpPr>
        <p:spPr>
          <a:xfrm>
            <a:off x="548640" y="3017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перспективы</a:t>
            </a:r>
            <a:endParaRPr lang="en-US" sz="3200" dirty="0"/>
          </a:p>
        </p:txBody>
      </p:sp>
      <p:sp>
        <p:nvSpPr>
          <p:cNvPr id="7" name="A5f_author"/>
          <p:cNvSpPr txBox="1"/>
          <p:nvPr/>
        </p:nvSpPr>
        <p:spPr>
          <a:xfrm>
            <a:off x="548640" y="41148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____________________  Курс ___ группа _____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____________________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Техникум транспорта г. Орска, 2026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65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95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6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эта тема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37160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6" name="A1z_circle"/>
          <p:cNvSpPr/>
          <p:nvPr/>
        </p:nvSpPr>
        <p:spPr>
          <a:xfrm>
            <a:off x="1371600" y="164592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A1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901952"/>
            <a:ext cx="402336" cy="402336"/>
          </a:xfrm>
          <a:prstGeom prst="rect">
            <a:avLst/>
          </a:prstGeom>
        </p:spPr>
      </p:pic>
      <p:sp>
        <p:nvSpPr>
          <p:cNvPr id="8" name="A1f_head"/>
          <p:cNvSpPr txBox="1"/>
          <p:nvPr/>
        </p:nvSpPr>
        <p:spPr>
          <a:xfrm>
            <a:off x="68580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2200" dirty="0"/>
          </a:p>
        </p:txBody>
      </p:sp>
      <p:sp>
        <p:nvSpPr>
          <p:cNvPr id="9" name="A1f_text"/>
          <p:cNvSpPr txBox="1"/>
          <p:nvPr/>
        </p:nvSpPr>
        <p:spPr>
          <a:xfrm>
            <a:off x="73152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Компьютеры — везде</a:t>
            </a:r>
            <a:endParaRPr lang="en-US" sz="1600" dirty="0"/>
          </a:p>
        </p:txBody>
      </p:sp>
      <p:sp>
        <p:nvSpPr>
          <p:cNvPr id="10" name="A2f_card"/>
          <p:cNvSpPr/>
          <p:nvPr/>
        </p:nvSpPr>
        <p:spPr>
          <a:xfrm>
            <a:off x="3337560" y="137160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1" name="A2z_circle"/>
          <p:cNvSpPr/>
          <p:nvPr/>
        </p:nvSpPr>
        <p:spPr>
          <a:xfrm>
            <a:off x="4160520" y="1645920"/>
            <a:ext cx="914400" cy="9144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2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1901952"/>
            <a:ext cx="402336" cy="402336"/>
          </a:xfrm>
          <a:prstGeom prst="rect">
            <a:avLst/>
          </a:prstGeom>
        </p:spPr>
      </p:pic>
      <p:sp>
        <p:nvSpPr>
          <p:cNvPr id="13" name="A2f_head"/>
          <p:cNvSpPr txBox="1"/>
          <p:nvPr/>
        </p:nvSpPr>
        <p:spPr>
          <a:xfrm>
            <a:off x="34747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2200" dirty="0"/>
          </a:p>
        </p:txBody>
      </p:sp>
      <p:sp>
        <p:nvSpPr>
          <p:cNvPr id="14" name="A2f_text"/>
          <p:cNvSpPr txBox="1"/>
          <p:nvPr/>
        </p:nvSpPr>
        <p:spPr>
          <a:xfrm>
            <a:off x="352044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Каким будет компьютер?</a:t>
            </a:r>
            <a:endParaRPr lang="en-US" sz="1600" dirty="0"/>
          </a:p>
        </p:txBody>
      </p:sp>
      <p:sp>
        <p:nvSpPr>
          <p:cNvPr id="15" name="A3f_card"/>
          <p:cNvSpPr/>
          <p:nvPr/>
        </p:nvSpPr>
        <p:spPr>
          <a:xfrm>
            <a:off x="6126480" y="1371600"/>
            <a:ext cx="2560320" cy="3108960"/>
          </a:xfrm>
          <a:prstGeom prst="roundRect">
            <a:avLst>
              <a:gd name="adj" fmla="val 5000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6" name="A3z_circle"/>
          <p:cNvSpPr/>
          <p:nvPr/>
        </p:nvSpPr>
        <p:spPr>
          <a:xfrm>
            <a:off x="6949440" y="164592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7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2" y="1901952"/>
            <a:ext cx="402336" cy="402336"/>
          </a:xfrm>
          <a:prstGeom prst="rect">
            <a:avLst/>
          </a:prstGeom>
        </p:spPr>
      </p:pic>
      <p:sp>
        <p:nvSpPr>
          <p:cNvPr id="18" name="A3f_head"/>
          <p:cNvSpPr txBox="1"/>
          <p:nvPr/>
        </p:nvSpPr>
        <p:spPr>
          <a:xfrm>
            <a:off x="626364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2200" dirty="0"/>
          </a:p>
        </p:txBody>
      </p:sp>
      <p:sp>
        <p:nvSpPr>
          <p:cNvPr id="19" name="A3f_text"/>
          <p:cNvSpPr txBox="1"/>
          <p:nvPr/>
        </p:nvSpPr>
        <p:spPr>
          <a:xfrm>
            <a:off x="6309360" y="33375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· Сегодня · Будущее · Риски</a:t>
            </a:r>
            <a:endParaRPr lang="en-US" sz="16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ламп к ИИ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A1w_line"/>
          <p:cNvSpPr/>
          <p:nvPr/>
        </p:nvSpPr>
        <p:spPr>
          <a:xfrm>
            <a:off x="731520" y="1828800"/>
            <a:ext cx="7680960" cy="54864"/>
          </a:xfrm>
          <a:prstGeom prst="rect">
            <a:avLst/>
          </a:prstGeom>
          <a:solidFill>
            <a:srgbClr val="A9B4DA">
              <a:alpha val="60000"/>
            </a:srgbClr>
          </a:solidFill>
          <a:ln w="12700">
            <a:solidFill>
              <a:srgbClr val="A9B4DA">
                <a:alpha val="60000"/>
              </a:srgbClr>
            </a:solidFill>
            <a:prstDash val="solid"/>
          </a:ln>
        </p:spPr>
      </p:sp>
      <p:sp>
        <p:nvSpPr>
          <p:cNvPr id="6" name="A2z_circle"/>
          <p:cNvSpPr/>
          <p:nvPr/>
        </p:nvSpPr>
        <p:spPr>
          <a:xfrm>
            <a:off x="822960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A2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1627632"/>
            <a:ext cx="402336" cy="402336"/>
          </a:xfrm>
          <a:prstGeom prst="rect">
            <a:avLst/>
          </a:prstGeom>
        </p:spPr>
      </p:pic>
      <p:sp>
        <p:nvSpPr>
          <p:cNvPr id="8" name="A2f_year"/>
          <p:cNvSpPr txBox="1"/>
          <p:nvPr/>
        </p:nvSpPr>
        <p:spPr>
          <a:xfrm>
            <a:off x="411480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1940-е</a:t>
            </a:r>
            <a:endParaRPr lang="en-US" sz="2000" dirty="0"/>
          </a:p>
        </p:txBody>
      </p:sp>
      <p:sp>
        <p:nvSpPr>
          <p:cNvPr id="9" name="A2f_name"/>
          <p:cNvSpPr txBox="1"/>
          <p:nvPr/>
        </p:nvSpPr>
        <p:spPr>
          <a:xfrm>
            <a:off x="411480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Лампы</a:t>
            </a:r>
            <a:endParaRPr lang="en-US" sz="1800" dirty="0"/>
          </a:p>
        </p:txBody>
      </p:sp>
      <p:sp>
        <p:nvSpPr>
          <p:cNvPr id="10" name="A2f_cap"/>
          <p:cNvSpPr txBox="1"/>
          <p:nvPr/>
        </p:nvSpPr>
        <p:spPr>
          <a:xfrm>
            <a:off x="502920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тонн</a:t>
            </a:r>
            <a:endParaRPr lang="en-US" sz="1400" dirty="0"/>
          </a:p>
        </p:txBody>
      </p:sp>
      <p:sp>
        <p:nvSpPr>
          <p:cNvPr id="11" name="A3z_circle"/>
          <p:cNvSpPr/>
          <p:nvPr/>
        </p:nvSpPr>
        <p:spPr>
          <a:xfrm>
            <a:off x="2487168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2" name="A3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627632"/>
            <a:ext cx="402336" cy="402336"/>
          </a:xfrm>
          <a:prstGeom prst="rect">
            <a:avLst/>
          </a:prstGeom>
        </p:spPr>
      </p:pic>
      <p:sp>
        <p:nvSpPr>
          <p:cNvPr id="13" name="A3f_year"/>
          <p:cNvSpPr txBox="1"/>
          <p:nvPr/>
        </p:nvSpPr>
        <p:spPr>
          <a:xfrm>
            <a:off x="2075688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1950-е</a:t>
            </a:r>
            <a:endParaRPr lang="en-US" sz="2000" dirty="0"/>
          </a:p>
        </p:txBody>
      </p:sp>
      <p:sp>
        <p:nvSpPr>
          <p:cNvPr id="14" name="A3f_name"/>
          <p:cNvSpPr txBox="1"/>
          <p:nvPr/>
        </p:nvSpPr>
        <p:spPr>
          <a:xfrm>
            <a:off x="2075688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Транзисторы</a:t>
            </a:r>
            <a:endParaRPr lang="en-US" sz="1800" dirty="0"/>
          </a:p>
        </p:txBody>
      </p:sp>
      <p:sp>
        <p:nvSpPr>
          <p:cNvPr id="15" name="A3f_cap"/>
          <p:cNvSpPr txBox="1"/>
          <p:nvPr/>
        </p:nvSpPr>
        <p:spPr>
          <a:xfrm>
            <a:off x="2167128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и быстрее</a:t>
            </a:r>
            <a:endParaRPr lang="en-US" sz="1400" dirty="0"/>
          </a:p>
        </p:txBody>
      </p:sp>
      <p:sp>
        <p:nvSpPr>
          <p:cNvPr id="16" name="A4z_circle"/>
          <p:cNvSpPr/>
          <p:nvPr/>
        </p:nvSpPr>
        <p:spPr>
          <a:xfrm>
            <a:off x="4151376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7" name="A4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8" y="1627632"/>
            <a:ext cx="402336" cy="402336"/>
          </a:xfrm>
          <a:prstGeom prst="rect">
            <a:avLst/>
          </a:prstGeom>
        </p:spPr>
      </p:pic>
      <p:sp>
        <p:nvSpPr>
          <p:cNvPr id="18" name="A4f_year"/>
          <p:cNvSpPr txBox="1"/>
          <p:nvPr/>
        </p:nvSpPr>
        <p:spPr>
          <a:xfrm>
            <a:off x="3739896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1960-е</a:t>
            </a:r>
            <a:endParaRPr lang="en-US" sz="2000" dirty="0"/>
          </a:p>
        </p:txBody>
      </p:sp>
      <p:sp>
        <p:nvSpPr>
          <p:cNvPr id="19" name="A4f_name"/>
          <p:cNvSpPr txBox="1"/>
          <p:nvPr/>
        </p:nvSpPr>
        <p:spPr>
          <a:xfrm>
            <a:off x="3739896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Микросхемы</a:t>
            </a:r>
            <a:endParaRPr lang="en-US" sz="1800" dirty="0"/>
          </a:p>
        </p:txBody>
      </p:sp>
      <p:sp>
        <p:nvSpPr>
          <p:cNvPr id="20" name="A4f_cap"/>
          <p:cNvSpPr txBox="1"/>
          <p:nvPr/>
        </p:nvSpPr>
        <p:spPr>
          <a:xfrm>
            <a:off x="3831336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элементов</a:t>
            </a:r>
            <a:endParaRPr lang="en-US" sz="1400" dirty="0"/>
          </a:p>
        </p:txBody>
      </p:sp>
      <p:sp>
        <p:nvSpPr>
          <p:cNvPr id="21" name="A5z_circle"/>
          <p:cNvSpPr/>
          <p:nvPr/>
        </p:nvSpPr>
        <p:spPr>
          <a:xfrm>
            <a:off x="5815584" y="1371600"/>
            <a:ext cx="914400" cy="9144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5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1616" y="1627632"/>
            <a:ext cx="402336" cy="402336"/>
          </a:xfrm>
          <a:prstGeom prst="rect">
            <a:avLst/>
          </a:prstGeom>
        </p:spPr>
      </p:pic>
      <p:sp>
        <p:nvSpPr>
          <p:cNvPr id="23" name="A5f_year"/>
          <p:cNvSpPr txBox="1"/>
          <p:nvPr/>
        </p:nvSpPr>
        <p:spPr>
          <a:xfrm>
            <a:off x="5404104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1970-е</a:t>
            </a:r>
            <a:endParaRPr lang="en-US" sz="2000" dirty="0"/>
          </a:p>
        </p:txBody>
      </p:sp>
      <p:sp>
        <p:nvSpPr>
          <p:cNvPr id="24" name="A5f_name"/>
          <p:cNvSpPr txBox="1"/>
          <p:nvPr/>
        </p:nvSpPr>
        <p:spPr>
          <a:xfrm>
            <a:off x="5404104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Процессор</a:t>
            </a:r>
            <a:endParaRPr lang="en-US" sz="1800" dirty="0"/>
          </a:p>
        </p:txBody>
      </p:sp>
      <p:sp>
        <p:nvSpPr>
          <p:cNvPr id="25" name="A5f_cap"/>
          <p:cNvSpPr txBox="1"/>
          <p:nvPr/>
        </p:nvSpPr>
        <p:spPr>
          <a:xfrm>
            <a:off x="5495544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ПК для всех</a:t>
            </a:r>
            <a:endParaRPr lang="en-US" sz="1400" dirty="0"/>
          </a:p>
        </p:txBody>
      </p:sp>
      <p:sp>
        <p:nvSpPr>
          <p:cNvPr id="26" name="A6z_circle"/>
          <p:cNvSpPr/>
          <p:nvPr/>
        </p:nvSpPr>
        <p:spPr>
          <a:xfrm>
            <a:off x="7479792" y="1371600"/>
            <a:ext cx="914400" cy="9144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7" name="A6z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5824" y="1627632"/>
            <a:ext cx="402336" cy="402336"/>
          </a:xfrm>
          <a:prstGeom prst="rect">
            <a:avLst/>
          </a:prstGeom>
        </p:spPr>
      </p:pic>
      <p:sp>
        <p:nvSpPr>
          <p:cNvPr id="28" name="A6f_year"/>
          <p:cNvSpPr txBox="1"/>
          <p:nvPr/>
        </p:nvSpPr>
        <p:spPr>
          <a:xfrm>
            <a:off x="7068312" y="2514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2020-е</a:t>
            </a:r>
            <a:endParaRPr lang="en-US" sz="2000" dirty="0"/>
          </a:p>
        </p:txBody>
      </p:sp>
      <p:sp>
        <p:nvSpPr>
          <p:cNvPr id="29" name="A6f_name"/>
          <p:cNvSpPr txBox="1"/>
          <p:nvPr/>
        </p:nvSpPr>
        <p:spPr>
          <a:xfrm>
            <a:off x="7068312" y="29718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</a:t>
            </a:r>
            <a:endParaRPr lang="en-US" sz="1800" dirty="0"/>
          </a:p>
        </p:txBody>
      </p:sp>
      <p:sp>
        <p:nvSpPr>
          <p:cNvPr id="30" name="A6f_cap"/>
          <p:cNvSpPr txBox="1"/>
          <p:nvPr/>
        </p:nvSpPr>
        <p:spPr>
          <a:xfrm>
            <a:off x="7159752" y="3429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умные системы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30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950"/>
                            </p:stCondLst>
                            <p:childTnLst>
                              <p:par>
                                <p:cTn id="4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600"/>
                            </p:stCondLst>
                            <p:childTnLst>
                              <p:par>
                                <p:cTn id="6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250"/>
                            </p:stCondLst>
                            <p:childTnLst>
                              <p:par>
                                <p:cTn id="8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Компьютер сегодня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280160"/>
            <a:ext cx="8046720" cy="1737360"/>
          </a:xfrm>
          <a:prstGeom prst="roundRect">
            <a:avLst>
              <a:gd name="adj" fmla="val 7368"/>
            </a:avLst>
          </a:prstGeom>
          <a:solidFill>
            <a:srgbClr val="1E2B6B"/>
          </a:solidFill>
          <a:ln w="12700">
            <a:solidFill>
              <a:srgbClr val="1E2B6B"/>
            </a:solidFill>
            <a:prstDash val="solid"/>
          </a:ln>
        </p:spPr>
      </p:sp>
      <p:sp>
        <p:nvSpPr>
          <p:cNvPr id="6" name="A2z_old"/>
          <p:cNvSpPr txBox="1"/>
          <p:nvPr/>
        </p:nvSpPr>
        <p:spPr>
          <a:xfrm>
            <a:off x="822960" y="1417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т</a:t>
            </a:r>
            <a:endParaRPr lang="en-US" sz="6000" dirty="0"/>
          </a:p>
        </p:txBody>
      </p:sp>
      <p:sp>
        <p:nvSpPr>
          <p:cNvPr id="7" name="A2f_oldcap"/>
          <p:cNvSpPr txBox="1"/>
          <p:nvPr/>
        </p:nvSpPr>
        <p:spPr>
          <a:xfrm>
            <a:off x="82296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ENIAC, 1946</a:t>
            </a:r>
            <a:endParaRPr lang="en-US" sz="1600" dirty="0"/>
          </a:p>
        </p:txBody>
      </p:sp>
      <p:sp>
        <p:nvSpPr>
          <p:cNvPr id="8" name="A3z_circle"/>
          <p:cNvSpPr/>
          <p:nvPr/>
        </p:nvSpPr>
        <p:spPr>
          <a:xfrm>
            <a:off x="4160520" y="1645920"/>
            <a:ext cx="822960" cy="8229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9" name="A3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1876349"/>
            <a:ext cx="362102" cy="362102"/>
          </a:xfrm>
          <a:prstGeom prst="rect">
            <a:avLst/>
          </a:prstGeom>
        </p:spPr>
      </p:pic>
      <p:sp>
        <p:nvSpPr>
          <p:cNvPr id="10" name="A4z_new"/>
          <p:cNvSpPr txBox="1"/>
          <p:nvPr/>
        </p:nvSpPr>
        <p:spPr>
          <a:xfrm>
            <a:off x="5577840" y="1417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г</a:t>
            </a:r>
            <a:endParaRPr lang="en-US" sz="6000" dirty="0"/>
          </a:p>
        </p:txBody>
      </p:sp>
      <p:sp>
        <p:nvSpPr>
          <p:cNvPr id="11" name="A4f_newcap"/>
          <p:cNvSpPr txBox="1"/>
          <p:nvPr/>
        </p:nvSpPr>
        <p:spPr>
          <a:xfrm>
            <a:off x="5577840" y="2423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смартфон сегодня</a:t>
            </a:r>
            <a:endParaRPr lang="en-US" sz="1600" dirty="0"/>
          </a:p>
        </p:txBody>
      </p:sp>
      <p:sp>
        <p:nvSpPr>
          <p:cNvPr id="12" name="A5f_card"/>
          <p:cNvSpPr/>
          <p:nvPr/>
        </p:nvSpPr>
        <p:spPr>
          <a:xfrm>
            <a:off x="54864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3" name="A5z_circle"/>
          <p:cNvSpPr/>
          <p:nvPr/>
        </p:nvSpPr>
        <p:spPr>
          <a:xfrm>
            <a:off x="777240" y="3520440"/>
            <a:ext cx="731520" cy="731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4" name="A5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66" y="3725266"/>
            <a:ext cx="321869" cy="321869"/>
          </a:xfrm>
          <a:prstGeom prst="rect">
            <a:avLst/>
          </a:prstGeom>
        </p:spPr>
      </p:pic>
      <p:sp>
        <p:nvSpPr>
          <p:cNvPr id="15" name="A5f_text"/>
          <p:cNvSpPr txBox="1"/>
          <p:nvPr/>
        </p:nvSpPr>
        <p:spPr>
          <a:xfrm>
            <a:off x="16459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Нанометры</a:t>
            </a:r>
            <a:endParaRPr lang="en-US" sz="1800" dirty="0"/>
          </a:p>
        </p:txBody>
      </p:sp>
      <p:sp>
        <p:nvSpPr>
          <p:cNvPr id="16" name="A6f_card"/>
          <p:cNvSpPr/>
          <p:nvPr/>
        </p:nvSpPr>
        <p:spPr>
          <a:xfrm>
            <a:off x="333756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7" name="A6z_circle"/>
          <p:cNvSpPr/>
          <p:nvPr/>
        </p:nvSpPr>
        <p:spPr>
          <a:xfrm>
            <a:off x="3566160" y="352044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8" name="A6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986" y="3725266"/>
            <a:ext cx="321869" cy="321869"/>
          </a:xfrm>
          <a:prstGeom prst="rect">
            <a:avLst/>
          </a:prstGeom>
        </p:spPr>
      </p:pic>
      <p:sp>
        <p:nvSpPr>
          <p:cNvPr id="19" name="A6f_text"/>
          <p:cNvSpPr txBox="1"/>
          <p:nvPr/>
        </p:nvSpPr>
        <p:spPr>
          <a:xfrm>
            <a:off x="443484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в кармане</a:t>
            </a:r>
            <a:endParaRPr lang="en-US" sz="1800" dirty="0"/>
          </a:p>
        </p:txBody>
      </p:sp>
      <p:sp>
        <p:nvSpPr>
          <p:cNvPr id="20" name="A7f_card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10769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1" name="A7z_circle"/>
          <p:cNvSpPr/>
          <p:nvPr/>
        </p:nvSpPr>
        <p:spPr>
          <a:xfrm>
            <a:off x="6355080" y="3520440"/>
            <a:ext cx="731520" cy="7315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7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9906" y="3725266"/>
            <a:ext cx="321869" cy="321869"/>
          </a:xfrm>
          <a:prstGeom prst="rect">
            <a:avLst/>
          </a:prstGeom>
        </p:spPr>
      </p:pic>
      <p:sp>
        <p:nvSpPr>
          <p:cNvPr id="23" name="A7f_text"/>
          <p:cNvSpPr txBox="1"/>
          <p:nvPr/>
        </p:nvSpPr>
        <p:spPr>
          <a:xfrm>
            <a:off x="72237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Облако</a:t>
            </a:r>
            <a:endParaRPr lang="en-US" sz="18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650"/>
                            </p:stCondLst>
                            <p:childTnLst>
                              <p:par>
                                <p:cTn id="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95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6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25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9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Технологии будущего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32588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6" name="A1z_circle"/>
          <p:cNvSpPr/>
          <p:nvPr/>
        </p:nvSpPr>
        <p:spPr>
          <a:xfrm>
            <a:off x="822960" y="1645920"/>
            <a:ext cx="868680" cy="8686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" name="A1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" y="1889150"/>
            <a:ext cx="382219" cy="382219"/>
          </a:xfrm>
          <a:prstGeom prst="rect">
            <a:avLst/>
          </a:prstGeom>
        </p:spPr>
      </p:pic>
      <p:sp>
        <p:nvSpPr>
          <p:cNvPr id="8" name="A1f_head"/>
          <p:cNvSpPr txBox="1"/>
          <p:nvPr/>
        </p:nvSpPr>
        <p:spPr>
          <a:xfrm>
            <a:off x="19202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Квантовые</a:t>
            </a:r>
            <a:endParaRPr lang="en-US" sz="2000" dirty="0"/>
          </a:p>
        </p:txBody>
      </p:sp>
      <p:sp>
        <p:nvSpPr>
          <p:cNvPr id="9" name="A1f_text"/>
          <p:cNvSpPr txBox="1"/>
          <p:nvPr/>
        </p:nvSpPr>
        <p:spPr>
          <a:xfrm>
            <a:off x="19202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кубиты и сверхбыстрые расчёты</a:t>
            </a:r>
            <a:endParaRPr lang="en-US" sz="1500" dirty="0"/>
          </a:p>
        </p:txBody>
      </p:sp>
      <p:sp>
        <p:nvSpPr>
          <p:cNvPr id="10" name="A2f_card"/>
          <p:cNvSpPr/>
          <p:nvPr/>
        </p:nvSpPr>
        <p:spPr>
          <a:xfrm>
            <a:off x="4663440" y="132588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1" name="A2z_circle"/>
          <p:cNvSpPr/>
          <p:nvPr/>
        </p:nvSpPr>
        <p:spPr>
          <a:xfrm>
            <a:off x="4937760" y="1645920"/>
            <a:ext cx="868680" cy="8686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2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990" y="1889150"/>
            <a:ext cx="382219" cy="382219"/>
          </a:xfrm>
          <a:prstGeom prst="rect">
            <a:avLst/>
          </a:prstGeom>
        </p:spPr>
      </p:pic>
      <p:sp>
        <p:nvSpPr>
          <p:cNvPr id="13" name="A2f_head"/>
          <p:cNvSpPr txBox="1"/>
          <p:nvPr/>
        </p:nvSpPr>
        <p:spPr>
          <a:xfrm>
            <a:off x="60350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</a:t>
            </a:r>
            <a:endParaRPr lang="en-US" sz="2000" dirty="0"/>
          </a:p>
        </p:txBody>
      </p:sp>
      <p:sp>
        <p:nvSpPr>
          <p:cNvPr id="14" name="A2f_text"/>
          <p:cNvSpPr txBox="1"/>
          <p:nvPr/>
        </p:nvSpPr>
        <p:spPr>
          <a:xfrm>
            <a:off x="60350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во всём</a:t>
            </a:r>
            <a:endParaRPr lang="en-US" sz="1500" dirty="0"/>
          </a:p>
        </p:txBody>
      </p:sp>
      <p:sp>
        <p:nvSpPr>
          <p:cNvPr id="15" name="A3f_card"/>
          <p:cNvSpPr/>
          <p:nvPr/>
        </p:nvSpPr>
        <p:spPr>
          <a:xfrm>
            <a:off x="548640" y="301752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16" name="A3z_circle"/>
          <p:cNvSpPr/>
          <p:nvPr/>
        </p:nvSpPr>
        <p:spPr>
          <a:xfrm>
            <a:off x="822960" y="3337560"/>
            <a:ext cx="868680" cy="8686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7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" y="3580790"/>
            <a:ext cx="382219" cy="382219"/>
          </a:xfrm>
          <a:prstGeom prst="rect">
            <a:avLst/>
          </a:prstGeom>
        </p:spPr>
      </p:pic>
      <p:sp>
        <p:nvSpPr>
          <p:cNvPr id="18" name="A3f_head"/>
          <p:cNvSpPr txBox="1"/>
          <p:nvPr/>
        </p:nvSpPr>
        <p:spPr>
          <a:xfrm>
            <a:off x="192024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Фотонные чипы</a:t>
            </a:r>
            <a:endParaRPr lang="en-US" sz="2000" dirty="0"/>
          </a:p>
        </p:txBody>
      </p:sp>
      <p:sp>
        <p:nvSpPr>
          <p:cNvPr id="19" name="A3f_text"/>
          <p:cNvSpPr txBox="1"/>
          <p:nvPr/>
        </p:nvSpPr>
        <p:spPr>
          <a:xfrm>
            <a:off x="192024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свет вместо тока</a:t>
            </a:r>
            <a:endParaRPr lang="en-US" sz="1500" dirty="0"/>
          </a:p>
        </p:txBody>
      </p:sp>
      <p:sp>
        <p:nvSpPr>
          <p:cNvPr id="20" name="A4f_card"/>
          <p:cNvSpPr/>
          <p:nvPr/>
        </p:nvSpPr>
        <p:spPr>
          <a:xfrm>
            <a:off x="4663440" y="3017520"/>
            <a:ext cx="3931920" cy="1508760"/>
          </a:xfrm>
          <a:prstGeom prst="roundRect">
            <a:avLst>
              <a:gd name="adj" fmla="val 8485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21" name="A4z_circle"/>
          <p:cNvSpPr/>
          <p:nvPr/>
        </p:nvSpPr>
        <p:spPr>
          <a:xfrm>
            <a:off x="4937760" y="3337560"/>
            <a:ext cx="868680" cy="86868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4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0990" y="3580790"/>
            <a:ext cx="382219" cy="382219"/>
          </a:xfrm>
          <a:prstGeom prst="rect">
            <a:avLst/>
          </a:prstGeom>
        </p:spPr>
      </p:pic>
      <p:sp>
        <p:nvSpPr>
          <p:cNvPr id="23" name="A4f_head"/>
          <p:cNvSpPr txBox="1"/>
          <p:nvPr/>
        </p:nvSpPr>
        <p:spPr>
          <a:xfrm>
            <a:off x="603504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 вещей и AR</a:t>
            </a:r>
            <a:endParaRPr lang="en-US" sz="2000" dirty="0"/>
          </a:p>
        </p:txBody>
      </p:sp>
      <p:sp>
        <p:nvSpPr>
          <p:cNvPr id="24" name="A4f_text"/>
          <p:cNvSpPr txBox="1"/>
          <p:nvPr/>
        </p:nvSpPr>
        <p:spPr>
          <a:xfrm>
            <a:off x="603504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умный дом, умные очки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95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нас ждёт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A1f_card"/>
          <p:cNvSpPr/>
          <p:nvPr/>
        </p:nvSpPr>
        <p:spPr>
          <a:xfrm>
            <a:off x="548640" y="1234440"/>
            <a:ext cx="3931920" cy="3337560"/>
          </a:xfrm>
          <a:prstGeom prst="roundRect">
            <a:avLst>
              <a:gd name="adj" fmla="val 3836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6" name="A1f_card"/>
          <p:cNvSpPr/>
          <p:nvPr/>
        </p:nvSpPr>
        <p:spPr>
          <a:xfrm>
            <a:off x="4663440" y="1234440"/>
            <a:ext cx="3931920" cy="3337560"/>
          </a:xfrm>
          <a:prstGeom prst="roundRect">
            <a:avLst>
              <a:gd name="adj" fmla="val 3836"/>
            </a:avLst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7" name="A1f_h1"/>
          <p:cNvSpPr txBox="1"/>
          <p:nvPr/>
        </p:nvSpPr>
        <p:spPr>
          <a:xfrm>
            <a:off x="8229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Возможности</a:t>
            </a:r>
            <a:endParaRPr lang="en-US" sz="2200" dirty="0"/>
          </a:p>
        </p:txBody>
      </p:sp>
      <p:sp>
        <p:nvSpPr>
          <p:cNvPr id="8" name="A1f_h2"/>
          <p:cNvSpPr txBox="1"/>
          <p:nvPr/>
        </p:nvSpPr>
        <p:spPr>
          <a:xfrm>
            <a:off x="493776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2200" dirty="0"/>
          </a:p>
        </p:txBody>
      </p:sp>
      <p:sp>
        <p:nvSpPr>
          <p:cNvPr id="9" name="A2z_circle"/>
          <p:cNvSpPr/>
          <p:nvPr/>
        </p:nvSpPr>
        <p:spPr>
          <a:xfrm>
            <a:off x="822960" y="196596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0" name="A2z_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778" y="2106778"/>
            <a:ext cx="221285" cy="221285"/>
          </a:xfrm>
          <a:prstGeom prst="rect">
            <a:avLst/>
          </a:prstGeom>
        </p:spPr>
      </p:pic>
      <p:sp>
        <p:nvSpPr>
          <p:cNvPr id="11" name="A2f_pro"/>
          <p:cNvSpPr txBox="1"/>
          <p:nvPr/>
        </p:nvSpPr>
        <p:spPr>
          <a:xfrm>
            <a:off x="15087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800" dirty="0"/>
          </a:p>
        </p:txBody>
      </p:sp>
      <p:sp>
        <p:nvSpPr>
          <p:cNvPr id="12" name="A2z_circle"/>
          <p:cNvSpPr/>
          <p:nvPr/>
        </p:nvSpPr>
        <p:spPr>
          <a:xfrm>
            <a:off x="4937760" y="19659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3" name="A2z_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8578" y="2106778"/>
            <a:ext cx="221285" cy="221285"/>
          </a:xfrm>
          <a:prstGeom prst="rect">
            <a:avLst/>
          </a:prstGeom>
        </p:spPr>
      </p:pic>
      <p:sp>
        <p:nvSpPr>
          <p:cNvPr id="14" name="A2f_con"/>
          <p:cNvSpPr txBox="1"/>
          <p:nvPr/>
        </p:nvSpPr>
        <p:spPr>
          <a:xfrm>
            <a:off x="5623560" y="1965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Безопасность</a:t>
            </a:r>
            <a:endParaRPr lang="en-US" sz="1800" dirty="0"/>
          </a:p>
        </p:txBody>
      </p:sp>
      <p:sp>
        <p:nvSpPr>
          <p:cNvPr id="15" name="A3z_circle"/>
          <p:cNvSpPr/>
          <p:nvPr/>
        </p:nvSpPr>
        <p:spPr>
          <a:xfrm>
            <a:off x="822960" y="260604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A3z_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778" y="2746858"/>
            <a:ext cx="221285" cy="221285"/>
          </a:xfrm>
          <a:prstGeom prst="rect">
            <a:avLst/>
          </a:prstGeom>
        </p:spPr>
      </p:pic>
      <p:sp>
        <p:nvSpPr>
          <p:cNvPr id="17" name="A3f_pro"/>
          <p:cNvSpPr txBox="1"/>
          <p:nvPr/>
        </p:nvSpPr>
        <p:spPr>
          <a:xfrm>
            <a:off x="1508760" y="2606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Наука</a:t>
            </a:r>
            <a:endParaRPr lang="en-US" sz="1800" dirty="0"/>
          </a:p>
        </p:txBody>
      </p:sp>
      <p:sp>
        <p:nvSpPr>
          <p:cNvPr id="18" name="A3z_circle"/>
          <p:cNvSpPr/>
          <p:nvPr/>
        </p:nvSpPr>
        <p:spPr>
          <a:xfrm>
            <a:off x="4937760" y="260604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19" name="A3z_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8578" y="2746858"/>
            <a:ext cx="221285" cy="221285"/>
          </a:xfrm>
          <a:prstGeom prst="rect">
            <a:avLst/>
          </a:prstGeom>
        </p:spPr>
      </p:pic>
      <p:sp>
        <p:nvSpPr>
          <p:cNvPr id="20" name="A3f_con"/>
          <p:cNvSpPr txBox="1"/>
          <p:nvPr/>
        </p:nvSpPr>
        <p:spPr>
          <a:xfrm>
            <a:off x="5623560" y="26060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</a:t>
            </a:r>
            <a:endParaRPr lang="en-US" sz="1800" dirty="0"/>
          </a:p>
        </p:txBody>
      </p:sp>
      <p:sp>
        <p:nvSpPr>
          <p:cNvPr id="21" name="A4z_circle"/>
          <p:cNvSpPr/>
          <p:nvPr/>
        </p:nvSpPr>
        <p:spPr>
          <a:xfrm>
            <a:off x="822960" y="324612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2" name="A4z_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78" y="3386938"/>
            <a:ext cx="221285" cy="221285"/>
          </a:xfrm>
          <a:prstGeom prst="rect">
            <a:avLst/>
          </a:prstGeom>
        </p:spPr>
      </p:pic>
      <p:sp>
        <p:nvSpPr>
          <p:cNvPr id="23" name="A4f_pro"/>
          <p:cNvSpPr txBox="1"/>
          <p:nvPr/>
        </p:nvSpPr>
        <p:spPr>
          <a:xfrm>
            <a:off x="150876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</a:t>
            </a:r>
            <a:endParaRPr lang="en-US" sz="1800" dirty="0"/>
          </a:p>
        </p:txBody>
      </p:sp>
      <p:sp>
        <p:nvSpPr>
          <p:cNvPr id="24" name="A4z_circle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A4z_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8578" y="3386938"/>
            <a:ext cx="221285" cy="221285"/>
          </a:xfrm>
          <a:prstGeom prst="rect">
            <a:avLst/>
          </a:prstGeom>
        </p:spPr>
      </p:pic>
      <p:sp>
        <p:nvSpPr>
          <p:cNvPr id="26" name="A4f_con"/>
          <p:cNvSpPr txBox="1"/>
          <p:nvPr/>
        </p:nvSpPr>
        <p:spPr>
          <a:xfrm>
            <a:off x="5623560" y="32461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Профессии</a:t>
            </a:r>
            <a:endParaRPr lang="en-US" sz="1800" dirty="0"/>
          </a:p>
        </p:txBody>
      </p:sp>
      <p:sp>
        <p:nvSpPr>
          <p:cNvPr id="27" name="A5z_circle"/>
          <p:cNvSpPr/>
          <p:nvPr/>
        </p:nvSpPr>
        <p:spPr>
          <a:xfrm>
            <a:off x="822960" y="3886200"/>
            <a:ext cx="502920" cy="50292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8" name="A5z_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3778" y="4027018"/>
            <a:ext cx="221285" cy="221285"/>
          </a:xfrm>
          <a:prstGeom prst="rect">
            <a:avLst/>
          </a:prstGeom>
        </p:spPr>
      </p:pic>
      <p:sp>
        <p:nvSpPr>
          <p:cNvPr id="29" name="A5f_pro"/>
          <p:cNvSpPr txBox="1"/>
          <p:nvPr/>
        </p:nvSpPr>
        <p:spPr>
          <a:xfrm>
            <a:off x="1508760" y="3886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Образование</a:t>
            </a:r>
            <a:endParaRPr lang="en-US" sz="1800" dirty="0"/>
          </a:p>
        </p:txBody>
      </p:sp>
      <p:sp>
        <p:nvSpPr>
          <p:cNvPr id="30" name="A5z_circle"/>
          <p:cNvSpPr/>
          <p:nvPr/>
        </p:nvSpPr>
        <p:spPr>
          <a:xfrm>
            <a:off x="4937760" y="388620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A5z_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8578" y="4027018"/>
            <a:ext cx="221285" cy="221285"/>
          </a:xfrm>
          <a:prstGeom prst="rect">
            <a:avLst/>
          </a:prstGeom>
        </p:spPr>
      </p:pic>
      <p:sp>
        <p:nvSpPr>
          <p:cNvPr id="32" name="A5f_con"/>
          <p:cNvSpPr txBox="1"/>
          <p:nvPr/>
        </p:nvSpPr>
        <p:spPr>
          <a:xfrm>
            <a:off x="5623560" y="38862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</a:t>
            </a:r>
            <a:endParaRPr lang="en-US" sz="18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5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"/>
                            </p:stCondLst>
                            <p:childTnLst>
                              <p:par>
                                <p:cTn id="4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950"/>
                            </p:stCondLst>
                            <p:childTnLst>
                              <p:par>
                                <p:cTn id="7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600"/>
                            </p:stCondLst>
                            <p:childTnLst>
                              <p:par>
                                <p:cTn id="9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</a:t>
            </a:r>
            <a:endParaRPr lang="en-US" sz="3600" dirty="0"/>
          </a:p>
        </p:txBody>
      </p:sp>
      <p:sp>
        <p:nvSpPr>
          <p:cNvPr id="3" name="Num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9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A1z_num"/>
          <p:cNvSpPr/>
          <p:nvPr/>
        </p:nvSpPr>
        <p:spPr>
          <a:xfrm>
            <a:off x="548640" y="1280160"/>
            <a:ext cx="685800" cy="6858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A1z_numt"/>
          <p:cNvSpPr txBox="1"/>
          <p:nvPr/>
        </p:nvSpPr>
        <p:spPr>
          <a:xfrm>
            <a:off x="548640" y="12801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A1w_text"/>
          <p:cNvSpPr txBox="1"/>
          <p:nvPr/>
        </p:nvSpPr>
        <p:spPr>
          <a:xfrm>
            <a:off x="1508760" y="12801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Компьютер — везде</a:t>
            </a:r>
            <a:endParaRPr lang="en-US" sz="2600" dirty="0"/>
          </a:p>
        </p:txBody>
      </p:sp>
      <p:sp>
        <p:nvSpPr>
          <p:cNvPr id="8" name="A2z_num"/>
          <p:cNvSpPr/>
          <p:nvPr/>
        </p:nvSpPr>
        <p:spPr>
          <a:xfrm>
            <a:off x="548640" y="2194560"/>
            <a:ext cx="685800" cy="6858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A2z_numt"/>
          <p:cNvSpPr txBox="1"/>
          <p:nvPr/>
        </p:nvSpPr>
        <p:spPr>
          <a:xfrm>
            <a:off x="54864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A2w_text"/>
          <p:cNvSpPr txBox="1"/>
          <p:nvPr/>
        </p:nvSpPr>
        <p:spPr>
          <a:xfrm>
            <a:off x="1508760" y="21945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Будущее: ИИ + квантовые чипы</a:t>
            </a:r>
            <a:endParaRPr lang="en-US" sz="2600" dirty="0"/>
          </a:p>
        </p:txBody>
      </p:sp>
      <p:sp>
        <p:nvSpPr>
          <p:cNvPr id="11" name="A3z_num"/>
          <p:cNvSpPr/>
          <p:nvPr/>
        </p:nvSpPr>
        <p:spPr>
          <a:xfrm>
            <a:off x="548640" y="3108960"/>
            <a:ext cx="685800" cy="68580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A3z_numt"/>
          <p:cNvSpPr txBox="1"/>
          <p:nvPr/>
        </p:nvSpPr>
        <p:spPr>
          <a:xfrm>
            <a:off x="548640" y="3108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1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A3w_text"/>
          <p:cNvSpPr txBox="1"/>
          <p:nvPr/>
        </p:nvSpPr>
        <p:spPr>
          <a:xfrm>
            <a:off x="1508760" y="310896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Учиться и применять осознанно</a:t>
            </a:r>
            <a:endParaRPr lang="en-US" sz="2600" dirty="0"/>
          </a:p>
        </p:txBody>
      </p:sp>
      <p:sp>
        <p:nvSpPr>
          <p:cNvPr id="14" name="A4z_thanks"/>
          <p:cNvSpPr txBox="1"/>
          <p:nvPr/>
        </p:nvSpPr>
        <p:spPr>
          <a:xfrm>
            <a:off x="548640" y="41605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3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650"/>
                            </p:stCondLst>
                            <p:childTnLst>
                              <p:par>
                                <p:cTn id="1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300"/>
                            </p:stCondLst>
                            <p:childTnLst>
                              <p:par>
                                <p:cTn id="3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950"/>
                            </p:stCondLst>
                            <p:childTnLst>
                              <p:par>
                                <p:cTn id="46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Компьютер 21 века: перспективы</dc:title>
  <dc:subject>PptxGenJS Presentation</dc:subject>
  <dc:creator>Индивидуальный проект</dc:creator>
  <cp:lastModifiedBy>Индивидуальный проект</cp:lastModifiedBy>
  <cp:revision>1</cp:revision>
  <dcterms:created xsi:type="dcterms:W3CDTF">2026-10-13T05:37:55Z</dcterms:created>
  <dcterms:modified xsi:type="dcterms:W3CDTF">2026-10-13T05:37:55Z</dcterms:modified>
</cp:coreProperties>
</file>