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моего проекта — негативное воздействие компьютера на здоровье человека и способы защиты.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Компьютер есть у каждого, и многие проводят за ним часы. Цель — выяснить, чем он вредит здоровью и как защититься. Гипотеза: вред связан не с самим компьютером, а с неправильными привычками. Методы: анализ источников, сравнение и систематизация. Продукт — памятка и презентация.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Вред возникает не из-за самого устройства, а из-за долгой работы без перерывов, неудобной позы и плохих условий. Страдают зрение, спина и руки, нервная система и сон, а также важны условия среды.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Длительная работа за экраном вызывает компьютерный зрительный синдром: усталость, сухость, головную боль и размытость зрения. По данным Американской ассоциации оптометристов, в группе риска люди, которые проводят у экрана два часа и более подряд.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Долгое сидение в одной позе приводит к боли в шее и спине, плохой осанке. Однообразные движения мыши и клавиатуры перегружают кисти. А главный враг — недостаток движения.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Экран перед сном мешает засыпать. Стресс и спешка вызывают усталость. ВОЗ включила расстройство, обусловленное играми, в Международную классификацию болезней: главный признак — потеря контроля над временем.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защита — правильное рабочее место. Экран на расстоянии примерно 50–70 сантиметров, верхний край на уровне глаз или чуть ниже. Спина с опорой, ноги на полу. Окно сбоку, чтобы не было бликов.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двадцать-двадцать-двадцать: каждые 20 минут смотреть на предмет в 20 футах, это примерно 6 метров, в течение 20 секунд. И движение: подросткам в среднем 60 минут в день, взрослым от 150 до 300 минут умеренной активности в неделю, по рекомендациям ВОЗ.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правила: делать перерывы, организовать свет без бликов, чаще моргать, следить за осанкой, больше двигаться и не использовать экран перед сном.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Вывод: вред компьютера связан в основном с привычками. Эргономика и режим снижают риски. Берегите зрение, спину и сон.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1z_monit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22960"/>
            <a:ext cx="3200400" cy="3200400"/>
          </a:xfrm>
          <a:prstGeom prst="rect">
            <a:avLst/>
          </a:prstGeom>
        </p:spPr>
      </p:pic>
      <p:sp>
        <p:nvSpPr>
          <p:cNvPr id="4" name="A2f_label"/>
          <p:cNvSpPr txBox="1"/>
          <p:nvPr/>
        </p:nvSpPr>
        <p:spPr>
          <a:xfrm>
            <a:off x="548640" y="731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 ПРОЕКТ · ИНФОРМАТИКА</a:t>
            </a:r>
            <a:endParaRPr lang="en-US" sz="1200" dirty="0"/>
          </a:p>
        </p:txBody>
      </p:sp>
      <p:sp>
        <p:nvSpPr>
          <p:cNvPr id="5" name="A3w_title"/>
          <p:cNvSpPr txBox="1"/>
          <p:nvPr/>
        </p:nvSpPr>
        <p:spPr>
          <a:xfrm>
            <a:off x="548640" y="11430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Негативное воздействие компьютера на здоровье человека</a:t>
            </a:r>
            <a:endParaRPr lang="en-US" sz="3000" dirty="0"/>
          </a:p>
        </p:txBody>
      </p:sp>
      <p:sp>
        <p:nvSpPr>
          <p:cNvPr id="6" name="A4w_sub"/>
          <p:cNvSpPr txBox="1"/>
          <p:nvPr/>
        </p:nvSpPr>
        <p:spPr>
          <a:xfrm>
            <a:off x="548640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4E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способы защиты</a:t>
            </a:r>
            <a:endParaRPr lang="en-US" sz="2800" dirty="0"/>
          </a:p>
        </p:txBody>
      </p:sp>
      <p:sp>
        <p:nvSpPr>
          <p:cNvPr id="7" name="A5f_author"/>
          <p:cNvSpPr txBox="1"/>
          <p:nvPr/>
        </p:nvSpPr>
        <p:spPr>
          <a:xfrm>
            <a:off x="54864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____________________  Курс ___ группа 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Техникум транспорта г. Орска, 2026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A1f_card"/>
          <p:cNvSpPr/>
          <p:nvPr/>
        </p:nvSpPr>
        <p:spPr>
          <a:xfrm>
            <a:off x="548640" y="1005840"/>
            <a:ext cx="2560320" cy="1554480"/>
          </a:xfrm>
          <a:prstGeom prst="roundRect">
            <a:avLst>
              <a:gd name="adj" fmla="val 823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5" name="A1z_circle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6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2" y="1367942"/>
            <a:ext cx="281635" cy="281635"/>
          </a:xfrm>
          <a:prstGeom prst="rect">
            <a:avLst/>
          </a:prstGeom>
        </p:spPr>
      </p:pic>
      <p:sp>
        <p:nvSpPr>
          <p:cNvPr id="7" name="A1f_head"/>
          <p:cNvSpPr txBox="1"/>
          <p:nvPr/>
        </p:nvSpPr>
        <p:spPr>
          <a:xfrm>
            <a:off x="150876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900" dirty="0"/>
          </a:p>
        </p:txBody>
      </p:sp>
      <p:sp>
        <p:nvSpPr>
          <p:cNvPr id="8" name="A1f_text"/>
          <p:cNvSpPr txBox="1"/>
          <p:nvPr/>
        </p:nvSpPr>
        <p:spPr>
          <a:xfrm>
            <a:off x="73152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— каждый день</a:t>
            </a:r>
            <a:endParaRPr lang="en-US" sz="1400" dirty="0"/>
          </a:p>
        </p:txBody>
      </p:sp>
      <p:sp>
        <p:nvSpPr>
          <p:cNvPr id="9" name="A2f_card"/>
          <p:cNvSpPr/>
          <p:nvPr/>
        </p:nvSpPr>
        <p:spPr>
          <a:xfrm>
            <a:off x="3337560" y="1005840"/>
            <a:ext cx="2560320" cy="1554480"/>
          </a:xfrm>
          <a:prstGeom prst="roundRect">
            <a:avLst>
              <a:gd name="adj" fmla="val 823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0" name="A2z_circle"/>
          <p:cNvSpPr/>
          <p:nvPr/>
        </p:nvSpPr>
        <p:spPr>
          <a:xfrm>
            <a:off x="3520440" y="1188720"/>
            <a:ext cx="640080" cy="6400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1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662" y="1367942"/>
            <a:ext cx="281635" cy="281635"/>
          </a:xfrm>
          <a:prstGeom prst="rect">
            <a:avLst/>
          </a:prstGeom>
        </p:spPr>
      </p:pic>
      <p:sp>
        <p:nvSpPr>
          <p:cNvPr id="12" name="A2f_head"/>
          <p:cNvSpPr txBox="1"/>
          <p:nvPr/>
        </p:nvSpPr>
        <p:spPr>
          <a:xfrm>
            <a:off x="429768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900" dirty="0"/>
          </a:p>
        </p:txBody>
      </p:sp>
      <p:sp>
        <p:nvSpPr>
          <p:cNvPr id="13" name="A2f_text"/>
          <p:cNvSpPr txBox="1"/>
          <p:nvPr/>
        </p:nvSpPr>
        <p:spPr>
          <a:xfrm>
            <a:off x="352044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риски и защиту</a:t>
            </a:r>
            <a:endParaRPr lang="en-US" sz="1400" dirty="0"/>
          </a:p>
        </p:txBody>
      </p:sp>
      <p:sp>
        <p:nvSpPr>
          <p:cNvPr id="14" name="A3f_card"/>
          <p:cNvSpPr/>
          <p:nvPr/>
        </p:nvSpPr>
        <p:spPr>
          <a:xfrm>
            <a:off x="6126480" y="1005840"/>
            <a:ext cx="2560320" cy="1554480"/>
          </a:xfrm>
          <a:prstGeom prst="roundRect">
            <a:avLst>
              <a:gd name="adj" fmla="val 823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5" name="A3z_circle"/>
          <p:cNvSpPr/>
          <p:nvPr/>
        </p:nvSpPr>
        <p:spPr>
          <a:xfrm>
            <a:off x="6309360" y="1188720"/>
            <a:ext cx="640080" cy="6400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6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582" y="1367942"/>
            <a:ext cx="281635" cy="281635"/>
          </a:xfrm>
          <a:prstGeom prst="rect">
            <a:avLst/>
          </a:prstGeom>
        </p:spPr>
      </p:pic>
      <p:sp>
        <p:nvSpPr>
          <p:cNvPr id="17" name="A3f_head"/>
          <p:cNvSpPr txBox="1"/>
          <p:nvPr/>
        </p:nvSpPr>
        <p:spPr>
          <a:xfrm>
            <a:off x="708660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900" dirty="0"/>
          </a:p>
        </p:txBody>
      </p:sp>
      <p:sp>
        <p:nvSpPr>
          <p:cNvPr id="18" name="A3f_text"/>
          <p:cNvSpPr txBox="1"/>
          <p:nvPr/>
        </p:nvSpPr>
        <p:spPr>
          <a:xfrm>
            <a:off x="630936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· Влияние · Защита</a:t>
            </a:r>
            <a:endParaRPr lang="en-US" sz="1400" dirty="0"/>
          </a:p>
        </p:txBody>
      </p:sp>
      <p:sp>
        <p:nvSpPr>
          <p:cNvPr id="19" name="A4f_card"/>
          <p:cNvSpPr/>
          <p:nvPr/>
        </p:nvSpPr>
        <p:spPr>
          <a:xfrm>
            <a:off x="548640" y="2743200"/>
            <a:ext cx="2560320" cy="1554480"/>
          </a:xfrm>
          <a:prstGeom prst="roundRect">
            <a:avLst>
              <a:gd name="adj" fmla="val 823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0" name="A4z_circle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21" name="A4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" y="3105302"/>
            <a:ext cx="281635" cy="281635"/>
          </a:xfrm>
          <a:prstGeom prst="rect">
            <a:avLst/>
          </a:prstGeom>
        </p:spPr>
      </p:pic>
      <p:sp>
        <p:nvSpPr>
          <p:cNvPr id="22" name="A4f_head"/>
          <p:cNvSpPr txBox="1"/>
          <p:nvPr/>
        </p:nvSpPr>
        <p:spPr>
          <a:xfrm>
            <a:off x="150876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900" dirty="0"/>
          </a:p>
        </p:txBody>
      </p:sp>
      <p:sp>
        <p:nvSpPr>
          <p:cNvPr id="23" name="A4f_text"/>
          <p:cNvSpPr txBox="1"/>
          <p:nvPr/>
        </p:nvSpPr>
        <p:spPr>
          <a:xfrm>
            <a:off x="73152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Вред — от привычек, а не от компьютера</a:t>
            </a:r>
            <a:endParaRPr lang="en-US" sz="1400" dirty="0"/>
          </a:p>
        </p:txBody>
      </p:sp>
      <p:sp>
        <p:nvSpPr>
          <p:cNvPr id="24" name="A5f_card"/>
          <p:cNvSpPr/>
          <p:nvPr/>
        </p:nvSpPr>
        <p:spPr>
          <a:xfrm>
            <a:off x="3337560" y="2743200"/>
            <a:ext cx="2560320" cy="1554480"/>
          </a:xfrm>
          <a:prstGeom prst="roundRect">
            <a:avLst>
              <a:gd name="adj" fmla="val 823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5" name="A5z_circle"/>
          <p:cNvSpPr/>
          <p:nvPr/>
        </p:nvSpPr>
        <p:spPr>
          <a:xfrm>
            <a:off x="3520440" y="2926080"/>
            <a:ext cx="640080" cy="6400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26" name="A5z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662" y="3105302"/>
            <a:ext cx="281635" cy="281635"/>
          </a:xfrm>
          <a:prstGeom prst="rect">
            <a:avLst/>
          </a:prstGeom>
        </p:spPr>
      </p:pic>
      <p:sp>
        <p:nvSpPr>
          <p:cNvPr id="27" name="A5f_head"/>
          <p:cNvSpPr txBox="1"/>
          <p:nvPr/>
        </p:nvSpPr>
        <p:spPr>
          <a:xfrm>
            <a:off x="429768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</a:t>
            </a:r>
            <a:endParaRPr lang="en-US" sz="1900" dirty="0"/>
          </a:p>
        </p:txBody>
      </p:sp>
      <p:sp>
        <p:nvSpPr>
          <p:cNvPr id="28" name="A5f_text"/>
          <p:cNvSpPr txBox="1"/>
          <p:nvPr/>
        </p:nvSpPr>
        <p:spPr>
          <a:xfrm>
            <a:off x="35204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· сравнение</a:t>
            </a:r>
            <a:endParaRPr lang="en-US" sz="1400" dirty="0"/>
          </a:p>
        </p:txBody>
      </p:sp>
      <p:sp>
        <p:nvSpPr>
          <p:cNvPr id="29" name="A6f_card"/>
          <p:cNvSpPr/>
          <p:nvPr/>
        </p:nvSpPr>
        <p:spPr>
          <a:xfrm>
            <a:off x="6126480" y="2743200"/>
            <a:ext cx="2560320" cy="1554480"/>
          </a:xfrm>
          <a:prstGeom prst="roundRect">
            <a:avLst>
              <a:gd name="adj" fmla="val 823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30" name="A6z_circle"/>
          <p:cNvSpPr/>
          <p:nvPr/>
        </p:nvSpPr>
        <p:spPr>
          <a:xfrm>
            <a:off x="6309360" y="2926080"/>
            <a:ext cx="640080" cy="6400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31" name="A6z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8582" y="3105302"/>
            <a:ext cx="281635" cy="281635"/>
          </a:xfrm>
          <a:prstGeom prst="rect">
            <a:avLst/>
          </a:prstGeom>
        </p:spPr>
      </p:pic>
      <p:sp>
        <p:nvSpPr>
          <p:cNvPr id="32" name="A6f_head"/>
          <p:cNvSpPr txBox="1"/>
          <p:nvPr/>
        </p:nvSpPr>
        <p:spPr>
          <a:xfrm>
            <a:off x="708660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900" dirty="0"/>
          </a:p>
        </p:txBody>
      </p:sp>
      <p:sp>
        <p:nvSpPr>
          <p:cNvPr id="33" name="A6f_text"/>
          <p:cNvSpPr txBox="1"/>
          <p:nvPr/>
        </p:nvSpPr>
        <p:spPr>
          <a:xfrm>
            <a:off x="63093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 и презентация</a:t>
            </a:r>
            <a:endParaRPr lang="en-US" sz="1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6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5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опасен компьютер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6" name="A1z_circle"/>
          <p:cNvSpPr/>
          <p:nvPr/>
        </p:nvSpPr>
        <p:spPr>
          <a:xfrm>
            <a:off x="822960" y="1645920"/>
            <a:ext cx="868680" cy="8686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7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1889150"/>
            <a:ext cx="382219" cy="382219"/>
          </a:xfrm>
          <a:prstGeom prst="rect">
            <a:avLst/>
          </a:prstGeom>
        </p:spPr>
      </p:pic>
      <p:sp>
        <p:nvSpPr>
          <p:cNvPr id="8" name="A1f_head"/>
          <p:cNvSpPr txBox="1"/>
          <p:nvPr/>
        </p:nvSpPr>
        <p:spPr>
          <a:xfrm>
            <a:off x="19202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Зрение</a:t>
            </a:r>
            <a:endParaRPr lang="en-US" sz="2200" dirty="0"/>
          </a:p>
        </p:txBody>
      </p:sp>
      <p:sp>
        <p:nvSpPr>
          <p:cNvPr id="9" name="A1f_text"/>
          <p:cNvSpPr txBox="1"/>
          <p:nvPr/>
        </p:nvSpPr>
        <p:spPr>
          <a:xfrm>
            <a:off x="19202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утомление и сухость глаз</a:t>
            </a:r>
            <a:endParaRPr lang="en-US" sz="1500" dirty="0"/>
          </a:p>
        </p:txBody>
      </p:sp>
      <p:sp>
        <p:nvSpPr>
          <p:cNvPr id="10" name="A2f_card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1" name="A2z_circle"/>
          <p:cNvSpPr/>
          <p:nvPr/>
        </p:nvSpPr>
        <p:spPr>
          <a:xfrm>
            <a:off x="4937760" y="1645920"/>
            <a:ext cx="868680" cy="8686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2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990" y="1889150"/>
            <a:ext cx="382219" cy="382219"/>
          </a:xfrm>
          <a:prstGeom prst="rect">
            <a:avLst/>
          </a:prstGeom>
        </p:spPr>
      </p:pic>
      <p:sp>
        <p:nvSpPr>
          <p:cNvPr id="13" name="A2f_head"/>
          <p:cNvSpPr txBox="1"/>
          <p:nvPr/>
        </p:nvSpPr>
        <p:spPr>
          <a:xfrm>
            <a:off x="60350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Спина и руки</a:t>
            </a:r>
            <a:endParaRPr lang="en-US" sz="2200" dirty="0"/>
          </a:p>
        </p:txBody>
      </p:sp>
      <p:sp>
        <p:nvSpPr>
          <p:cNvPr id="14" name="A2f_text"/>
          <p:cNvSpPr txBox="1"/>
          <p:nvPr/>
        </p:nvSpPr>
        <p:spPr>
          <a:xfrm>
            <a:off x="60350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боль, онемение</a:t>
            </a:r>
            <a:endParaRPr lang="en-US" sz="1500" dirty="0"/>
          </a:p>
        </p:txBody>
      </p:sp>
      <p:sp>
        <p:nvSpPr>
          <p:cNvPr id="15" name="A3f_card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6" name="A3z_circle"/>
          <p:cNvSpPr/>
          <p:nvPr/>
        </p:nvSpPr>
        <p:spPr>
          <a:xfrm>
            <a:off x="822960" y="3337560"/>
            <a:ext cx="868680" cy="8686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7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" y="3580790"/>
            <a:ext cx="382219" cy="382219"/>
          </a:xfrm>
          <a:prstGeom prst="rect">
            <a:avLst/>
          </a:prstGeom>
        </p:spPr>
      </p:pic>
      <p:sp>
        <p:nvSpPr>
          <p:cNvPr id="18" name="A3f_head"/>
          <p:cNvSpPr txBox="1"/>
          <p:nvPr/>
        </p:nvSpPr>
        <p:spPr>
          <a:xfrm>
            <a:off x="19202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Нервы и сон</a:t>
            </a:r>
            <a:endParaRPr lang="en-US" sz="2200" dirty="0"/>
          </a:p>
        </p:txBody>
      </p:sp>
      <p:sp>
        <p:nvSpPr>
          <p:cNvPr id="19" name="A3f_text"/>
          <p:cNvSpPr txBox="1"/>
          <p:nvPr/>
        </p:nvSpPr>
        <p:spPr>
          <a:xfrm>
            <a:off x="19202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усталость, зависимость</a:t>
            </a:r>
            <a:endParaRPr lang="en-US" sz="1500" dirty="0"/>
          </a:p>
        </p:txBody>
      </p:sp>
      <p:sp>
        <p:nvSpPr>
          <p:cNvPr id="20" name="A4f_card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1" name="A4z_circle"/>
          <p:cNvSpPr/>
          <p:nvPr/>
        </p:nvSpPr>
        <p:spPr>
          <a:xfrm>
            <a:off x="4937760" y="3337560"/>
            <a:ext cx="868680" cy="8686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22" name="A4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990" y="3580790"/>
            <a:ext cx="382219" cy="382219"/>
          </a:xfrm>
          <a:prstGeom prst="rect">
            <a:avLst/>
          </a:prstGeom>
        </p:spPr>
      </p:pic>
      <p:sp>
        <p:nvSpPr>
          <p:cNvPr id="23" name="A4f_head"/>
          <p:cNvSpPr txBox="1"/>
          <p:nvPr/>
        </p:nvSpPr>
        <p:spPr>
          <a:xfrm>
            <a:off x="60350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</a:t>
            </a:r>
            <a:endParaRPr lang="en-US" sz="2200" dirty="0"/>
          </a:p>
        </p:txBody>
      </p:sp>
      <p:sp>
        <p:nvSpPr>
          <p:cNvPr id="24" name="A4f_text"/>
          <p:cNvSpPr txBox="1"/>
          <p:nvPr/>
        </p:nvSpPr>
        <p:spPr>
          <a:xfrm>
            <a:off x="60350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блики, шум, духота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Зрение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28016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164357"/>
          </a:solidFill>
          <a:ln w="12700">
            <a:solidFill>
              <a:srgbClr val="164357"/>
            </a:solidFill>
            <a:prstDash val="solid"/>
          </a:ln>
        </p:spPr>
      </p:sp>
      <p:sp>
        <p:nvSpPr>
          <p:cNvPr id="6" name="A2z_big"/>
          <p:cNvSpPr txBox="1"/>
          <p:nvPr/>
        </p:nvSpPr>
        <p:spPr>
          <a:xfrm>
            <a:off x="731520" y="15544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ч+</a:t>
            </a:r>
            <a:endParaRPr lang="en-US" sz="7200" dirty="0"/>
          </a:p>
        </p:txBody>
      </p:sp>
      <p:sp>
        <p:nvSpPr>
          <p:cNvPr id="7" name="A2f_cap"/>
          <p:cNvSpPr txBox="1"/>
          <p:nvPr/>
        </p:nvSpPr>
        <p:spPr>
          <a:xfrm>
            <a:off x="82296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подряд у экрана — группа риска</a:t>
            </a:r>
            <a:endParaRPr lang="en-US" sz="1800" dirty="0"/>
          </a:p>
        </p:txBody>
      </p:sp>
      <p:sp>
        <p:nvSpPr>
          <p:cNvPr id="8" name="A3f_card"/>
          <p:cNvSpPr/>
          <p:nvPr/>
        </p:nvSpPr>
        <p:spPr>
          <a:xfrm>
            <a:off x="4663440" y="1280160"/>
            <a:ext cx="3931920" cy="960120"/>
          </a:xfrm>
          <a:prstGeom prst="roundRect">
            <a:avLst>
              <a:gd name="adj" fmla="val 13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9" name="A3z_circle"/>
          <p:cNvSpPr/>
          <p:nvPr/>
        </p:nvSpPr>
        <p:spPr>
          <a:xfrm>
            <a:off x="4846320" y="1435608"/>
            <a:ext cx="640080" cy="6400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0" name="A3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542" y="1614830"/>
            <a:ext cx="281635" cy="281635"/>
          </a:xfrm>
          <a:prstGeom prst="rect">
            <a:avLst/>
          </a:prstGeom>
        </p:spPr>
      </p:pic>
      <p:sp>
        <p:nvSpPr>
          <p:cNvPr id="11" name="A3f_text"/>
          <p:cNvSpPr txBox="1"/>
          <p:nvPr/>
        </p:nvSpPr>
        <p:spPr>
          <a:xfrm>
            <a:off x="5669280" y="12801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Усталость глаз</a:t>
            </a:r>
            <a:endParaRPr lang="en-US" sz="2000" dirty="0"/>
          </a:p>
        </p:txBody>
      </p:sp>
      <p:sp>
        <p:nvSpPr>
          <p:cNvPr id="12" name="A4f_card"/>
          <p:cNvSpPr/>
          <p:nvPr/>
        </p:nvSpPr>
        <p:spPr>
          <a:xfrm>
            <a:off x="4663440" y="2377440"/>
            <a:ext cx="3931920" cy="960120"/>
          </a:xfrm>
          <a:prstGeom prst="roundRect">
            <a:avLst>
              <a:gd name="adj" fmla="val 13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3" name="A4z_circle"/>
          <p:cNvSpPr/>
          <p:nvPr/>
        </p:nvSpPr>
        <p:spPr>
          <a:xfrm>
            <a:off x="4846320" y="2532888"/>
            <a:ext cx="640080" cy="6400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4" name="A4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542" y="2712110"/>
            <a:ext cx="281635" cy="281635"/>
          </a:xfrm>
          <a:prstGeom prst="rect">
            <a:avLst/>
          </a:prstGeom>
        </p:spPr>
      </p:pic>
      <p:sp>
        <p:nvSpPr>
          <p:cNvPr id="15" name="A4f_text"/>
          <p:cNvSpPr txBox="1"/>
          <p:nvPr/>
        </p:nvSpPr>
        <p:spPr>
          <a:xfrm>
            <a:off x="5669280" y="23774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Сухость</a:t>
            </a:r>
            <a:endParaRPr lang="en-US" sz="2000" dirty="0"/>
          </a:p>
        </p:txBody>
      </p:sp>
      <p:sp>
        <p:nvSpPr>
          <p:cNvPr id="16" name="A5f_card"/>
          <p:cNvSpPr/>
          <p:nvPr/>
        </p:nvSpPr>
        <p:spPr>
          <a:xfrm>
            <a:off x="4663440" y="3474720"/>
            <a:ext cx="3931920" cy="960120"/>
          </a:xfrm>
          <a:prstGeom prst="roundRect">
            <a:avLst>
              <a:gd name="adj" fmla="val 13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7" name="A5z_circle"/>
          <p:cNvSpPr/>
          <p:nvPr/>
        </p:nvSpPr>
        <p:spPr>
          <a:xfrm>
            <a:off x="4846320" y="3630168"/>
            <a:ext cx="640080" cy="6400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8" name="A5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542" y="3809390"/>
            <a:ext cx="281635" cy="281635"/>
          </a:xfrm>
          <a:prstGeom prst="rect">
            <a:avLst/>
          </a:prstGeom>
        </p:spPr>
      </p:pic>
      <p:sp>
        <p:nvSpPr>
          <p:cNvPr id="19" name="A5f_text"/>
          <p:cNvSpPr txBox="1"/>
          <p:nvPr/>
        </p:nvSpPr>
        <p:spPr>
          <a:xfrm>
            <a:off x="5669280" y="34747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Головная боль</a:t>
            </a:r>
            <a:endParaRPr lang="en-US" sz="2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5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6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Спина и руки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6" name="A1z_circle"/>
          <p:cNvSpPr/>
          <p:nvPr/>
        </p:nvSpPr>
        <p:spPr>
          <a:xfrm>
            <a:off x="1371600" y="1691640"/>
            <a:ext cx="914400" cy="91440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7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7672"/>
            <a:ext cx="402336" cy="402336"/>
          </a:xfrm>
          <a:prstGeom prst="rect">
            <a:avLst/>
          </a:prstGeom>
        </p:spPr>
      </p:pic>
      <p:sp>
        <p:nvSpPr>
          <p:cNvPr id="8" name="A1f_head"/>
          <p:cNvSpPr txBox="1"/>
          <p:nvPr/>
        </p:nvSpPr>
        <p:spPr>
          <a:xfrm>
            <a:off x="68580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Осанка</a:t>
            </a:r>
            <a:endParaRPr lang="en-US" sz="2200" dirty="0"/>
          </a:p>
        </p:txBody>
      </p:sp>
      <p:sp>
        <p:nvSpPr>
          <p:cNvPr id="9" name="A1f_text"/>
          <p:cNvSpPr txBox="1"/>
          <p:nvPr/>
        </p:nvSpPr>
        <p:spPr>
          <a:xfrm>
            <a:off x="77724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сутулость, боль в шее</a:t>
            </a:r>
            <a:endParaRPr lang="en-US" sz="1600" dirty="0"/>
          </a:p>
        </p:txBody>
      </p:sp>
      <p:sp>
        <p:nvSpPr>
          <p:cNvPr id="10" name="A2f_card"/>
          <p:cNvSpPr/>
          <p:nvPr/>
        </p:nvSpPr>
        <p:spPr>
          <a:xfrm>
            <a:off x="3337560" y="137160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1" name="A2z_circle"/>
          <p:cNvSpPr/>
          <p:nvPr/>
        </p:nvSpPr>
        <p:spPr>
          <a:xfrm>
            <a:off x="4160520" y="1691640"/>
            <a:ext cx="914400" cy="9144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2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947672"/>
            <a:ext cx="402336" cy="402336"/>
          </a:xfrm>
          <a:prstGeom prst="rect">
            <a:avLst/>
          </a:prstGeom>
        </p:spPr>
      </p:pic>
      <p:sp>
        <p:nvSpPr>
          <p:cNvPr id="13" name="A2f_head"/>
          <p:cNvSpPr txBox="1"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Кисти</a:t>
            </a:r>
            <a:endParaRPr lang="en-US" sz="2200" dirty="0"/>
          </a:p>
        </p:txBody>
      </p:sp>
      <p:sp>
        <p:nvSpPr>
          <p:cNvPr id="14" name="A2f_text"/>
          <p:cNvSpPr txBox="1"/>
          <p:nvPr/>
        </p:nvSpPr>
        <p:spPr>
          <a:xfrm>
            <a:off x="356616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перенапряжение, онемение</a:t>
            </a:r>
            <a:endParaRPr lang="en-US" sz="1600" dirty="0"/>
          </a:p>
        </p:txBody>
      </p:sp>
      <p:sp>
        <p:nvSpPr>
          <p:cNvPr id="15" name="A3f_card"/>
          <p:cNvSpPr/>
          <p:nvPr/>
        </p:nvSpPr>
        <p:spPr>
          <a:xfrm>
            <a:off x="6126480" y="137160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6" name="A3z_circle"/>
          <p:cNvSpPr/>
          <p:nvPr/>
        </p:nvSpPr>
        <p:spPr>
          <a:xfrm>
            <a:off x="6949440" y="1691640"/>
            <a:ext cx="914400" cy="91440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7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1947672"/>
            <a:ext cx="402336" cy="402336"/>
          </a:xfrm>
          <a:prstGeom prst="rect">
            <a:avLst/>
          </a:prstGeom>
        </p:spPr>
      </p:pic>
      <p:sp>
        <p:nvSpPr>
          <p:cNvPr id="18" name="A3f_head"/>
          <p:cNvSpPr txBox="1"/>
          <p:nvPr/>
        </p:nvSpPr>
        <p:spPr>
          <a:xfrm>
            <a:off x="626364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движения</a:t>
            </a:r>
            <a:endParaRPr lang="en-US" sz="2200" dirty="0"/>
          </a:p>
        </p:txBody>
      </p:sp>
      <p:sp>
        <p:nvSpPr>
          <p:cNvPr id="19" name="A3f_text"/>
          <p:cNvSpPr txBox="1"/>
          <p:nvPr/>
        </p:nvSpPr>
        <p:spPr>
          <a:xfrm>
            <a:off x="635508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слабость мышц, лишний вес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Нервы, сон и зависимость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6" name="A1z_circle"/>
          <p:cNvSpPr/>
          <p:nvPr/>
        </p:nvSpPr>
        <p:spPr>
          <a:xfrm>
            <a:off x="1371600" y="1600200"/>
            <a:ext cx="914400" cy="91440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7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856232"/>
            <a:ext cx="402336" cy="402336"/>
          </a:xfrm>
          <a:prstGeom prst="rect">
            <a:avLst/>
          </a:prstGeom>
        </p:spPr>
      </p:pic>
      <p:sp>
        <p:nvSpPr>
          <p:cNvPr id="8" name="A1f_head"/>
          <p:cNvSpPr txBox="1"/>
          <p:nvPr/>
        </p:nvSpPr>
        <p:spPr>
          <a:xfrm>
            <a:off x="685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Сон</a:t>
            </a:r>
            <a:endParaRPr lang="en-US" sz="2200" dirty="0"/>
          </a:p>
        </p:txBody>
      </p:sp>
      <p:sp>
        <p:nvSpPr>
          <p:cNvPr id="9" name="A1f_text"/>
          <p:cNvSpPr txBox="1"/>
          <p:nvPr/>
        </p:nvSpPr>
        <p:spPr>
          <a:xfrm>
            <a:off x="73152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мешает засыпать</a:t>
            </a:r>
            <a:endParaRPr lang="en-US" sz="1500" dirty="0"/>
          </a:p>
        </p:txBody>
      </p:sp>
      <p:sp>
        <p:nvSpPr>
          <p:cNvPr id="10" name="A2f_card"/>
          <p:cNvSpPr/>
          <p:nvPr/>
        </p:nvSpPr>
        <p:spPr>
          <a:xfrm>
            <a:off x="333756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1" name="A2z_circle"/>
          <p:cNvSpPr/>
          <p:nvPr/>
        </p:nvSpPr>
        <p:spPr>
          <a:xfrm>
            <a:off x="4160520" y="1600200"/>
            <a:ext cx="914400" cy="9144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2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856232"/>
            <a:ext cx="402336" cy="402336"/>
          </a:xfrm>
          <a:prstGeom prst="rect">
            <a:avLst/>
          </a:prstGeom>
        </p:spPr>
      </p:pic>
      <p:sp>
        <p:nvSpPr>
          <p:cNvPr id="13" name="A2f_head"/>
          <p:cNvSpPr txBox="1"/>
          <p:nvPr/>
        </p:nvSpPr>
        <p:spPr>
          <a:xfrm>
            <a:off x="34747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Стресс</a:t>
            </a:r>
            <a:endParaRPr lang="en-US" sz="2200" dirty="0"/>
          </a:p>
        </p:txBody>
      </p:sp>
      <p:sp>
        <p:nvSpPr>
          <p:cNvPr id="14" name="A2f_text"/>
          <p:cNvSpPr txBox="1"/>
          <p:nvPr/>
        </p:nvSpPr>
        <p:spPr>
          <a:xfrm>
            <a:off x="352044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и спешка</a:t>
            </a:r>
            <a:endParaRPr lang="en-US" sz="1500" dirty="0"/>
          </a:p>
        </p:txBody>
      </p:sp>
      <p:sp>
        <p:nvSpPr>
          <p:cNvPr id="15" name="A3f_card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6" name="A3z_circle"/>
          <p:cNvSpPr/>
          <p:nvPr/>
        </p:nvSpPr>
        <p:spPr>
          <a:xfrm>
            <a:off x="6949440" y="1600200"/>
            <a:ext cx="914400" cy="91440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7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1856232"/>
            <a:ext cx="402336" cy="402336"/>
          </a:xfrm>
          <a:prstGeom prst="rect">
            <a:avLst/>
          </a:prstGeom>
        </p:spPr>
      </p:pic>
      <p:sp>
        <p:nvSpPr>
          <p:cNvPr id="18" name="A3f_head"/>
          <p:cNvSpPr txBox="1"/>
          <p:nvPr/>
        </p:nvSpPr>
        <p:spPr>
          <a:xfrm>
            <a:off x="62636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Игры</a:t>
            </a:r>
            <a:endParaRPr lang="en-US" sz="2200" dirty="0"/>
          </a:p>
        </p:txBody>
      </p:sp>
      <p:sp>
        <p:nvSpPr>
          <p:cNvPr id="19" name="A3f_text"/>
          <p:cNvSpPr txBox="1"/>
          <p:nvPr/>
        </p:nvSpPr>
        <p:spPr>
          <a:xfrm>
            <a:off x="630936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контроля — тревожный признак</a:t>
            </a:r>
            <a:endParaRPr lang="en-US" sz="1500" dirty="0"/>
          </a:p>
        </p:txBody>
      </p:sp>
      <p:sp>
        <p:nvSpPr>
          <p:cNvPr id="20" name="A4f_who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ВОЗ: расстройство, обусловленное играми, включено в МКБ-11</a:t>
            </a:r>
            <a:endParaRPr lang="en-US" sz="1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Защита: рабочее место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6" name="A1z_circle"/>
          <p:cNvSpPr/>
          <p:nvPr/>
        </p:nvSpPr>
        <p:spPr>
          <a:xfrm>
            <a:off x="822960" y="1645920"/>
            <a:ext cx="868680" cy="8686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7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1889150"/>
            <a:ext cx="382219" cy="382219"/>
          </a:xfrm>
          <a:prstGeom prst="rect">
            <a:avLst/>
          </a:prstGeom>
        </p:spPr>
      </p:pic>
      <p:sp>
        <p:nvSpPr>
          <p:cNvPr id="8" name="A1f_head"/>
          <p:cNvSpPr txBox="1"/>
          <p:nvPr/>
        </p:nvSpPr>
        <p:spPr>
          <a:xfrm>
            <a:off x="19202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см</a:t>
            </a:r>
            <a:endParaRPr lang="en-US" sz="2200" dirty="0"/>
          </a:p>
        </p:txBody>
      </p:sp>
      <p:sp>
        <p:nvSpPr>
          <p:cNvPr id="9" name="A1f_text"/>
          <p:cNvSpPr txBox="1"/>
          <p:nvPr/>
        </p:nvSpPr>
        <p:spPr>
          <a:xfrm>
            <a:off x="19202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экрана</a:t>
            </a:r>
            <a:endParaRPr lang="en-US" sz="1500" dirty="0"/>
          </a:p>
        </p:txBody>
      </p:sp>
      <p:sp>
        <p:nvSpPr>
          <p:cNvPr id="10" name="A2f_card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1" name="A2z_circle"/>
          <p:cNvSpPr/>
          <p:nvPr/>
        </p:nvSpPr>
        <p:spPr>
          <a:xfrm>
            <a:off x="4937760" y="1645920"/>
            <a:ext cx="868680" cy="8686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2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990" y="1889150"/>
            <a:ext cx="382219" cy="382219"/>
          </a:xfrm>
          <a:prstGeom prst="rect">
            <a:avLst/>
          </a:prstGeom>
        </p:spPr>
      </p:pic>
      <p:sp>
        <p:nvSpPr>
          <p:cNvPr id="13" name="A2f_head"/>
          <p:cNvSpPr txBox="1"/>
          <p:nvPr/>
        </p:nvSpPr>
        <p:spPr>
          <a:xfrm>
            <a:off x="60350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экрана</a:t>
            </a:r>
            <a:endParaRPr lang="en-US" sz="2200" dirty="0"/>
          </a:p>
        </p:txBody>
      </p:sp>
      <p:sp>
        <p:nvSpPr>
          <p:cNvPr id="14" name="A2f_text"/>
          <p:cNvSpPr txBox="1"/>
          <p:nvPr/>
        </p:nvSpPr>
        <p:spPr>
          <a:xfrm>
            <a:off x="60350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глаз или ниже</a:t>
            </a:r>
            <a:endParaRPr lang="en-US" sz="1500" dirty="0"/>
          </a:p>
        </p:txBody>
      </p:sp>
      <p:sp>
        <p:nvSpPr>
          <p:cNvPr id="15" name="A3f_card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6" name="A3z_circle"/>
          <p:cNvSpPr/>
          <p:nvPr/>
        </p:nvSpPr>
        <p:spPr>
          <a:xfrm>
            <a:off x="822960" y="3337560"/>
            <a:ext cx="868680" cy="86868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7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" y="3580790"/>
            <a:ext cx="382219" cy="382219"/>
          </a:xfrm>
          <a:prstGeom prst="rect">
            <a:avLst/>
          </a:prstGeom>
        </p:spPr>
      </p:pic>
      <p:sp>
        <p:nvSpPr>
          <p:cNvPr id="18" name="A3f_head"/>
          <p:cNvSpPr txBox="1"/>
          <p:nvPr/>
        </p:nvSpPr>
        <p:spPr>
          <a:xfrm>
            <a:off x="19202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Опора спины</a:t>
            </a:r>
            <a:endParaRPr lang="en-US" sz="2200" dirty="0"/>
          </a:p>
        </p:txBody>
      </p:sp>
      <p:sp>
        <p:nvSpPr>
          <p:cNvPr id="19" name="A3f_text"/>
          <p:cNvSpPr txBox="1"/>
          <p:nvPr/>
        </p:nvSpPr>
        <p:spPr>
          <a:xfrm>
            <a:off x="19202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ноги на полу</a:t>
            </a:r>
            <a:endParaRPr lang="en-US" sz="1500" dirty="0"/>
          </a:p>
        </p:txBody>
      </p:sp>
      <p:sp>
        <p:nvSpPr>
          <p:cNvPr id="20" name="A4f_card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1" name="A4z_circle"/>
          <p:cNvSpPr/>
          <p:nvPr/>
        </p:nvSpPr>
        <p:spPr>
          <a:xfrm>
            <a:off x="4937760" y="3337560"/>
            <a:ext cx="868680" cy="8686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22" name="A4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990" y="3580790"/>
            <a:ext cx="382219" cy="382219"/>
          </a:xfrm>
          <a:prstGeom prst="rect">
            <a:avLst/>
          </a:prstGeom>
        </p:spPr>
      </p:pic>
      <p:sp>
        <p:nvSpPr>
          <p:cNvPr id="23" name="A4f_head"/>
          <p:cNvSpPr txBox="1"/>
          <p:nvPr/>
        </p:nvSpPr>
        <p:spPr>
          <a:xfrm>
            <a:off x="60350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сбоку</a:t>
            </a:r>
            <a:endParaRPr lang="en-US" sz="2200" dirty="0"/>
          </a:p>
        </p:txBody>
      </p:sp>
      <p:sp>
        <p:nvSpPr>
          <p:cNvPr id="24" name="A4f_text"/>
          <p:cNvSpPr txBox="1"/>
          <p:nvPr/>
        </p:nvSpPr>
        <p:spPr>
          <a:xfrm>
            <a:off x="60350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бликов на экране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Защита: режим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A1w_line"/>
          <p:cNvSpPr/>
          <p:nvPr/>
        </p:nvSpPr>
        <p:spPr>
          <a:xfrm>
            <a:off x="1188720" y="1965960"/>
            <a:ext cx="6766560" cy="54864"/>
          </a:xfrm>
          <a:prstGeom prst="rect">
            <a:avLst/>
          </a:prstGeom>
          <a:solidFill>
            <a:srgbClr val="A8C3CF">
              <a:alpha val="60000"/>
            </a:srgbClr>
          </a:solidFill>
          <a:ln w="12700">
            <a:solidFill>
              <a:srgbClr val="A8C3CF">
                <a:alpha val="60000"/>
              </a:srgbClr>
            </a:solidFill>
            <a:prstDash val="solid"/>
          </a:ln>
        </p:spPr>
      </p:sp>
      <p:sp>
        <p:nvSpPr>
          <p:cNvPr id="6" name="A2z_c"/>
          <p:cNvSpPr/>
          <p:nvPr/>
        </p:nvSpPr>
        <p:spPr>
          <a:xfrm>
            <a:off x="1051560" y="1234440"/>
            <a:ext cx="1463040" cy="1463040"/>
          </a:xfrm>
          <a:prstGeom prst="ellipse">
            <a:avLst/>
          </a:prstGeom>
          <a:solidFill>
            <a:srgbClr val="34E3A8"/>
          </a:solidFill>
          <a:ln w="50800">
            <a:solidFill>
              <a:srgbClr val="081C26"/>
            </a:solidFill>
            <a:prstDash val="solid"/>
          </a:ln>
        </p:spPr>
      </p:sp>
      <p:sp>
        <p:nvSpPr>
          <p:cNvPr id="7" name="A2z_n"/>
          <p:cNvSpPr txBox="1"/>
          <p:nvPr/>
        </p:nvSpPr>
        <p:spPr>
          <a:xfrm>
            <a:off x="1051560" y="1234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1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8" name="A2f_l"/>
          <p:cNvSpPr txBox="1"/>
          <p:nvPr/>
        </p:nvSpPr>
        <p:spPr>
          <a:xfrm>
            <a:off x="73152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 работы</a:t>
            </a:r>
            <a:endParaRPr lang="en-US" sz="1800" dirty="0"/>
          </a:p>
        </p:txBody>
      </p:sp>
      <p:sp>
        <p:nvSpPr>
          <p:cNvPr id="9" name="A3z_c"/>
          <p:cNvSpPr/>
          <p:nvPr/>
        </p:nvSpPr>
        <p:spPr>
          <a:xfrm>
            <a:off x="3749040" y="1234440"/>
            <a:ext cx="1463040" cy="1463040"/>
          </a:xfrm>
          <a:prstGeom prst="ellipse">
            <a:avLst/>
          </a:prstGeom>
          <a:solidFill>
            <a:srgbClr val="FF7A6B"/>
          </a:solidFill>
          <a:ln w="50800">
            <a:solidFill>
              <a:srgbClr val="081C26"/>
            </a:solidFill>
            <a:prstDash val="solid"/>
          </a:ln>
        </p:spPr>
      </p:sp>
      <p:sp>
        <p:nvSpPr>
          <p:cNvPr id="10" name="A3z_n"/>
          <p:cNvSpPr txBox="1"/>
          <p:nvPr/>
        </p:nvSpPr>
        <p:spPr>
          <a:xfrm>
            <a:off x="3749040" y="1234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1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м</a:t>
            </a:r>
            <a:endParaRPr lang="en-US" sz="3800" dirty="0"/>
          </a:p>
        </p:txBody>
      </p:sp>
      <p:sp>
        <p:nvSpPr>
          <p:cNvPr id="11" name="A3f_l"/>
          <p:cNvSpPr txBox="1"/>
          <p:nvPr/>
        </p:nvSpPr>
        <p:spPr>
          <a:xfrm>
            <a:off x="342900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вдаль</a:t>
            </a:r>
            <a:endParaRPr lang="en-US" sz="1800" dirty="0"/>
          </a:p>
        </p:txBody>
      </p:sp>
      <p:sp>
        <p:nvSpPr>
          <p:cNvPr id="12" name="A4z_c"/>
          <p:cNvSpPr/>
          <p:nvPr/>
        </p:nvSpPr>
        <p:spPr>
          <a:xfrm>
            <a:off x="6446520" y="1234440"/>
            <a:ext cx="1463040" cy="1463040"/>
          </a:xfrm>
          <a:prstGeom prst="ellipse">
            <a:avLst/>
          </a:prstGeom>
          <a:solidFill>
            <a:srgbClr val="34E3A8"/>
          </a:solidFill>
          <a:ln w="50800">
            <a:solidFill>
              <a:srgbClr val="081C26"/>
            </a:solidFill>
            <a:prstDash val="solid"/>
          </a:ln>
        </p:spPr>
      </p:sp>
      <p:sp>
        <p:nvSpPr>
          <p:cNvPr id="13" name="A4z_n"/>
          <p:cNvSpPr txBox="1"/>
          <p:nvPr/>
        </p:nvSpPr>
        <p:spPr>
          <a:xfrm>
            <a:off x="6446520" y="1234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1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14" name="A4f_l"/>
          <p:cNvSpPr txBox="1"/>
          <p:nvPr/>
        </p:nvSpPr>
        <p:spPr>
          <a:xfrm>
            <a:off x="612648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</a:t>
            </a:r>
            <a:endParaRPr lang="en-US" sz="1800" dirty="0"/>
          </a:p>
        </p:txBody>
      </p:sp>
      <p:sp>
        <p:nvSpPr>
          <p:cNvPr id="15" name="A5f_card"/>
          <p:cNvSpPr/>
          <p:nvPr/>
        </p:nvSpPr>
        <p:spPr>
          <a:xfrm>
            <a:off x="548640" y="3520440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164357"/>
          </a:solidFill>
          <a:ln w="12700">
            <a:solidFill>
              <a:srgbClr val="164357"/>
            </a:solidFill>
            <a:prstDash val="solid"/>
          </a:ln>
        </p:spPr>
      </p:sp>
      <p:sp>
        <p:nvSpPr>
          <p:cNvPr id="16" name="A5f_a"/>
          <p:cNvSpPr txBox="1"/>
          <p:nvPr/>
        </p:nvSpPr>
        <p:spPr>
          <a:xfrm>
            <a:off x="731520" y="3611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E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мин в день</a:t>
            </a:r>
            <a:endParaRPr lang="en-US" sz="2400" dirty="0"/>
          </a:p>
        </p:txBody>
      </p:sp>
      <p:sp>
        <p:nvSpPr>
          <p:cNvPr id="17" name="A5f_b"/>
          <p:cNvSpPr txBox="1"/>
          <p:nvPr/>
        </p:nvSpPr>
        <p:spPr>
          <a:xfrm>
            <a:off x="73152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подросткам: активность</a:t>
            </a:r>
            <a:endParaRPr lang="en-US" sz="1500" dirty="0"/>
          </a:p>
        </p:txBody>
      </p:sp>
      <p:sp>
        <p:nvSpPr>
          <p:cNvPr id="18" name="A6f_card"/>
          <p:cNvSpPr/>
          <p:nvPr/>
        </p:nvSpPr>
        <p:spPr>
          <a:xfrm>
            <a:off x="4663440" y="3520440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164357"/>
          </a:solidFill>
          <a:ln w="12700">
            <a:solidFill>
              <a:srgbClr val="164357"/>
            </a:solidFill>
            <a:prstDash val="solid"/>
          </a:ln>
        </p:spPr>
      </p:sp>
      <p:sp>
        <p:nvSpPr>
          <p:cNvPr id="19" name="A6f_a"/>
          <p:cNvSpPr txBox="1"/>
          <p:nvPr/>
        </p:nvSpPr>
        <p:spPr>
          <a:xfrm>
            <a:off x="4846320" y="3611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150–300 мин в неделю</a:t>
            </a:r>
            <a:endParaRPr lang="en-US" sz="2400" dirty="0"/>
          </a:p>
        </p:txBody>
      </p:sp>
      <p:sp>
        <p:nvSpPr>
          <p:cNvPr id="20" name="A6f_b"/>
          <p:cNvSpPr txBox="1"/>
          <p:nvPr/>
        </p:nvSpPr>
        <p:spPr>
          <a:xfrm>
            <a:off x="484632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взрослым: умеренная активность</a:t>
            </a:r>
            <a:endParaRPr lang="en-US" sz="15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95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6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2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Памятка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37160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6" name="A1z_circle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7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66" y="1896466"/>
            <a:ext cx="321869" cy="321869"/>
          </a:xfrm>
          <a:prstGeom prst="rect">
            <a:avLst/>
          </a:prstGeom>
        </p:spPr>
      </p:pic>
      <p:sp>
        <p:nvSpPr>
          <p:cNvPr id="8" name="A1f_text"/>
          <p:cNvSpPr txBox="1"/>
          <p:nvPr/>
        </p:nvSpPr>
        <p:spPr>
          <a:xfrm>
            <a:off x="16459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Перерывы</a:t>
            </a:r>
            <a:endParaRPr lang="en-US" sz="1900" dirty="0"/>
          </a:p>
        </p:txBody>
      </p:sp>
      <p:sp>
        <p:nvSpPr>
          <p:cNvPr id="9" name="A2f_card"/>
          <p:cNvSpPr/>
          <p:nvPr/>
        </p:nvSpPr>
        <p:spPr>
          <a:xfrm>
            <a:off x="3337560" y="137160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0" name="A2z_circle"/>
          <p:cNvSpPr/>
          <p:nvPr/>
        </p:nvSpPr>
        <p:spPr>
          <a:xfrm>
            <a:off x="3566160" y="1691640"/>
            <a:ext cx="731520" cy="73152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1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986" y="1896466"/>
            <a:ext cx="321869" cy="321869"/>
          </a:xfrm>
          <a:prstGeom prst="rect">
            <a:avLst/>
          </a:prstGeom>
        </p:spPr>
      </p:pic>
      <p:sp>
        <p:nvSpPr>
          <p:cNvPr id="12" name="A2f_text"/>
          <p:cNvSpPr txBox="1"/>
          <p:nvPr/>
        </p:nvSpPr>
        <p:spPr>
          <a:xfrm>
            <a:off x="443484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без бликов</a:t>
            </a:r>
            <a:endParaRPr lang="en-US" sz="1900" dirty="0"/>
          </a:p>
        </p:txBody>
      </p:sp>
      <p:sp>
        <p:nvSpPr>
          <p:cNvPr id="13" name="A3f_card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4" name="A3z_circle"/>
          <p:cNvSpPr/>
          <p:nvPr/>
        </p:nvSpPr>
        <p:spPr>
          <a:xfrm>
            <a:off x="6355080" y="1691640"/>
            <a:ext cx="731520" cy="73152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15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906" y="1896466"/>
            <a:ext cx="321869" cy="321869"/>
          </a:xfrm>
          <a:prstGeom prst="rect">
            <a:avLst/>
          </a:prstGeom>
        </p:spPr>
      </p:pic>
      <p:sp>
        <p:nvSpPr>
          <p:cNvPr id="16" name="A3f_text"/>
          <p:cNvSpPr txBox="1"/>
          <p:nvPr/>
        </p:nvSpPr>
        <p:spPr>
          <a:xfrm>
            <a:off x="722376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моргать</a:t>
            </a:r>
            <a:endParaRPr lang="en-US" sz="1900" dirty="0"/>
          </a:p>
        </p:txBody>
      </p:sp>
      <p:sp>
        <p:nvSpPr>
          <p:cNvPr id="17" name="A4f_card"/>
          <p:cNvSpPr/>
          <p:nvPr/>
        </p:nvSpPr>
        <p:spPr>
          <a:xfrm>
            <a:off x="548640" y="292608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8" name="A4z_circle"/>
          <p:cNvSpPr/>
          <p:nvPr/>
        </p:nvSpPr>
        <p:spPr>
          <a:xfrm>
            <a:off x="777240" y="3246120"/>
            <a:ext cx="731520" cy="73152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19" name="A4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66" y="3450946"/>
            <a:ext cx="321869" cy="321869"/>
          </a:xfrm>
          <a:prstGeom prst="rect">
            <a:avLst/>
          </a:prstGeom>
        </p:spPr>
      </p:pic>
      <p:sp>
        <p:nvSpPr>
          <p:cNvPr id="20" name="A4f_text"/>
          <p:cNvSpPr txBox="1"/>
          <p:nvPr/>
        </p:nvSpPr>
        <p:spPr>
          <a:xfrm>
            <a:off x="1645920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Осанка</a:t>
            </a:r>
            <a:endParaRPr lang="en-US" sz="1900" dirty="0"/>
          </a:p>
        </p:txBody>
      </p:sp>
      <p:sp>
        <p:nvSpPr>
          <p:cNvPr id="21" name="A5f_card"/>
          <p:cNvSpPr/>
          <p:nvPr/>
        </p:nvSpPr>
        <p:spPr>
          <a:xfrm>
            <a:off x="3337560" y="292608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2" name="A5z_circle"/>
          <p:cNvSpPr/>
          <p:nvPr/>
        </p:nvSpPr>
        <p:spPr>
          <a:xfrm>
            <a:off x="3566160" y="3246120"/>
            <a:ext cx="731520" cy="73152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pic>
        <p:nvPicPr>
          <p:cNvPr id="23" name="A5z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986" y="3450946"/>
            <a:ext cx="321869" cy="321869"/>
          </a:xfrm>
          <a:prstGeom prst="rect">
            <a:avLst/>
          </a:prstGeom>
        </p:spPr>
      </p:pic>
      <p:sp>
        <p:nvSpPr>
          <p:cNvPr id="24" name="A5f_text"/>
          <p:cNvSpPr txBox="1"/>
          <p:nvPr/>
        </p:nvSpPr>
        <p:spPr>
          <a:xfrm>
            <a:off x="4434840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Движение</a:t>
            </a:r>
            <a:endParaRPr lang="en-US" sz="1900" dirty="0"/>
          </a:p>
        </p:txBody>
      </p:sp>
      <p:sp>
        <p:nvSpPr>
          <p:cNvPr id="25" name="A6f_card"/>
          <p:cNvSpPr/>
          <p:nvPr/>
        </p:nvSpPr>
        <p:spPr>
          <a:xfrm>
            <a:off x="6126480" y="2926080"/>
            <a:ext cx="2560320" cy="1371600"/>
          </a:xfrm>
          <a:prstGeom prst="roundRect">
            <a:avLst>
              <a:gd name="adj" fmla="val 9333"/>
            </a:avLst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6" name="A6z_circle"/>
          <p:cNvSpPr/>
          <p:nvPr/>
        </p:nvSpPr>
        <p:spPr>
          <a:xfrm>
            <a:off x="6355080" y="3246120"/>
            <a:ext cx="731520" cy="73152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pic>
        <p:nvPicPr>
          <p:cNvPr id="27" name="A6z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906" y="3450946"/>
            <a:ext cx="321869" cy="321869"/>
          </a:xfrm>
          <a:prstGeom prst="rect">
            <a:avLst/>
          </a:prstGeom>
        </p:spPr>
      </p:pic>
      <p:sp>
        <p:nvSpPr>
          <p:cNvPr id="28" name="A6f_text"/>
          <p:cNvSpPr txBox="1"/>
          <p:nvPr/>
        </p:nvSpPr>
        <p:spPr>
          <a:xfrm>
            <a:off x="7223760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Сон без экрана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6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A1z_num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sp>
        <p:nvSpPr>
          <p:cNvPr id="6" name="A1z_numt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A1w_text"/>
          <p:cNvSpPr txBox="1"/>
          <p:nvPr/>
        </p:nvSpPr>
        <p:spPr>
          <a:xfrm>
            <a:off x="1508760" y="12801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Вред — от привычек, а не от компьютера</a:t>
            </a:r>
            <a:endParaRPr lang="en-US" sz="2600" dirty="0"/>
          </a:p>
        </p:txBody>
      </p:sp>
      <p:sp>
        <p:nvSpPr>
          <p:cNvPr id="8" name="A2z_num"/>
          <p:cNvSpPr/>
          <p:nvPr/>
        </p:nvSpPr>
        <p:spPr>
          <a:xfrm>
            <a:off x="548640" y="2194560"/>
            <a:ext cx="685800" cy="6858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sp>
        <p:nvSpPr>
          <p:cNvPr id="9" name="A2z_numt"/>
          <p:cNvSpPr txBox="1"/>
          <p:nvPr/>
        </p:nvSpPr>
        <p:spPr>
          <a:xfrm>
            <a:off x="5486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A2w_text"/>
          <p:cNvSpPr txBox="1"/>
          <p:nvPr/>
        </p:nvSpPr>
        <p:spPr>
          <a:xfrm>
            <a:off x="1508760" y="21945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место + режим = защита</a:t>
            </a:r>
            <a:endParaRPr lang="en-US" sz="2600" dirty="0"/>
          </a:p>
        </p:txBody>
      </p:sp>
      <p:sp>
        <p:nvSpPr>
          <p:cNvPr id="11" name="A3z_num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34E3A8"/>
          </a:solidFill>
          <a:ln w="12700">
            <a:solidFill>
              <a:srgbClr val="34E3A8"/>
            </a:solidFill>
            <a:prstDash val="solid"/>
          </a:ln>
        </p:spPr>
      </p:sp>
      <p:sp>
        <p:nvSpPr>
          <p:cNvPr id="12" name="A3z_numt"/>
          <p:cNvSpPr txBox="1"/>
          <p:nvPr/>
        </p:nvSpPr>
        <p:spPr>
          <a:xfrm>
            <a:off x="54864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A3w_text"/>
          <p:cNvSpPr txBox="1"/>
          <p:nvPr/>
        </p:nvSpPr>
        <p:spPr>
          <a:xfrm>
            <a:off x="1508760" y="31089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Береги зрение, спину и сон</a:t>
            </a:r>
            <a:endParaRPr lang="en-US" sz="2600" dirty="0"/>
          </a:p>
        </p:txBody>
      </p:sp>
      <p:sp>
        <p:nvSpPr>
          <p:cNvPr id="14" name="A4z_thanks"/>
          <p:cNvSpPr txBox="1"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E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3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5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95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Негативное воздействие компьютера на здоровье человека и способы защиты</dc:title>
  <dc:subject>PptxGenJS Presentation</dc:subject>
  <dc:creator>Индивидуальный проект</dc:creator>
  <cp:lastModifiedBy>Индивидуальный проект</cp:lastModifiedBy>
  <cp:revision>1</cp:revision>
  <dcterms:created xsi:type="dcterms:W3CDTF">2026-10-13T07:11:19Z</dcterms:created>
  <dcterms:modified xsi:type="dcterms:W3CDTF">2026-10-13T07:11:19Z</dcterms:modified>
</cp:coreProperties>
</file>